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2"/>
  </p:notesMasterIdLst>
  <p:sldIdLst>
    <p:sldId id="256" r:id="rId2"/>
    <p:sldId id="291" r:id="rId3"/>
    <p:sldId id="292" r:id="rId4"/>
    <p:sldId id="264" r:id="rId5"/>
    <p:sldId id="265" r:id="rId6"/>
    <p:sldId id="303" r:id="rId7"/>
    <p:sldId id="313" r:id="rId8"/>
    <p:sldId id="310" r:id="rId9"/>
    <p:sldId id="309" r:id="rId10"/>
    <p:sldId id="311" r:id="rId11"/>
    <p:sldId id="299" r:id="rId12"/>
    <p:sldId id="314" r:id="rId13"/>
    <p:sldId id="315" r:id="rId14"/>
    <p:sldId id="306" r:id="rId15"/>
    <p:sldId id="312" r:id="rId16"/>
    <p:sldId id="300" r:id="rId17"/>
    <p:sldId id="308" r:id="rId18"/>
    <p:sldId id="307" r:id="rId19"/>
    <p:sldId id="316" r:id="rId20"/>
    <p:sldId id="317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Google Sans" panose="020B0604020202020204" charset="0"/>
      <p:regular r:id="rId27"/>
      <p:bold r:id="rId28"/>
      <p:italic r:id="rId29"/>
      <p:boldItalic r:id="rId30"/>
    </p:embeddedFont>
    <p:embeddedFont>
      <p:font typeface="Google Sans Medium" panose="020B0604020202020204" charset="0"/>
      <p:regular r:id="rId31"/>
      <p:bold r:id="rId32"/>
      <p:italic r:id="rId33"/>
      <p:boldItalic r:id="rId34"/>
    </p:embeddedFont>
    <p:embeddedFont>
      <p:font typeface="Helvetica Neue Light" panose="020B0604020202020204" charset="0"/>
      <p:regular r:id="rId35"/>
      <p:bold r:id="rId36"/>
      <p:italic r:id="rId37"/>
      <p:boldItalic r:id="rId38"/>
    </p:embeddedFont>
    <p:embeddedFont>
      <p:font typeface="Tahoma" panose="020B0604030504040204" pitchFamily="34" charset="0"/>
      <p:regular r:id="rId39"/>
      <p:bold r:id="rId40"/>
    </p:embeddedFont>
    <p:embeddedFont>
      <p:font typeface="Trebuchet MS" panose="020B060302020202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9106BB-0BEE-459E-A3A6-6B6421AB31E3}">
  <a:tblStyle styleId="{819106BB-0BEE-459E-A3A6-6B6421AB31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6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36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蘇泓舉" userId="ef992459-0c0e-4976-8b0c-db4b50594b00" providerId="ADAL" clId="{87833A29-4BF7-43BC-B605-FFC670341567}"/>
    <pc:docChg chg="undo custSel addSld delSld modSld sldOrd">
      <pc:chgData name="蘇泓舉" userId="ef992459-0c0e-4976-8b0c-db4b50594b00" providerId="ADAL" clId="{87833A29-4BF7-43BC-B605-FFC670341567}" dt="2025-09-19T05:00:47.908" v="561" actId="20577"/>
      <pc:docMkLst>
        <pc:docMk/>
      </pc:docMkLst>
      <pc:sldChg chg="add ord">
        <pc:chgData name="蘇泓舉" userId="ef992459-0c0e-4976-8b0c-db4b50594b00" providerId="ADAL" clId="{87833A29-4BF7-43BC-B605-FFC670341567}" dt="2025-09-19T03:42:08.355" v="536"/>
        <pc:sldMkLst>
          <pc:docMk/>
          <pc:sldMk cId="0" sldId="264"/>
        </pc:sldMkLst>
      </pc:sldChg>
      <pc:sldChg chg="add ord">
        <pc:chgData name="蘇泓舉" userId="ef992459-0c0e-4976-8b0c-db4b50594b00" providerId="ADAL" clId="{87833A29-4BF7-43BC-B605-FFC670341567}" dt="2025-09-19T03:42:08.355" v="536"/>
        <pc:sldMkLst>
          <pc:docMk/>
          <pc:sldMk cId="0" sldId="265"/>
        </pc:sldMkLst>
      </pc:sldChg>
      <pc:sldChg chg="modSp mod">
        <pc:chgData name="蘇泓舉" userId="ef992459-0c0e-4976-8b0c-db4b50594b00" providerId="ADAL" clId="{87833A29-4BF7-43BC-B605-FFC670341567}" dt="2025-09-19T03:07:56.961" v="161" actId="207"/>
        <pc:sldMkLst>
          <pc:docMk/>
          <pc:sldMk cId="2676588165" sldId="291"/>
        </pc:sldMkLst>
        <pc:spChg chg="mod">
          <ac:chgData name="蘇泓舉" userId="ef992459-0c0e-4976-8b0c-db4b50594b00" providerId="ADAL" clId="{87833A29-4BF7-43BC-B605-FFC670341567}" dt="2025-09-19T03:07:56.961" v="161" actId="207"/>
          <ac:spMkLst>
            <pc:docMk/>
            <pc:sldMk cId="2676588165" sldId="291"/>
            <ac:spMk id="2" creationId="{50DAB671-5D54-694E-5367-EC96FC60A16A}"/>
          </ac:spMkLst>
        </pc:spChg>
      </pc:sldChg>
      <pc:sldChg chg="modSp mod">
        <pc:chgData name="蘇泓舉" userId="ef992459-0c0e-4976-8b0c-db4b50594b00" providerId="ADAL" clId="{87833A29-4BF7-43BC-B605-FFC670341567}" dt="2025-09-19T03:08:41.100" v="266" actId="20577"/>
        <pc:sldMkLst>
          <pc:docMk/>
          <pc:sldMk cId="2344266650" sldId="292"/>
        </pc:sldMkLst>
        <pc:spChg chg="mod">
          <ac:chgData name="蘇泓舉" userId="ef992459-0c0e-4976-8b0c-db4b50594b00" providerId="ADAL" clId="{87833A29-4BF7-43BC-B605-FFC670341567}" dt="2025-09-19T03:08:41.100" v="266" actId="20577"/>
          <ac:spMkLst>
            <pc:docMk/>
            <pc:sldMk cId="2344266650" sldId="292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3:08:06.220" v="163"/>
          <ac:spMkLst>
            <pc:docMk/>
            <pc:sldMk cId="2344266650" sldId="292"/>
            <ac:spMk id="6" creationId="{45A7A772-3B10-4046-A1CF-722043634052}"/>
          </ac:spMkLst>
        </pc:spChg>
      </pc:sldChg>
      <pc:sldChg chg="modSp mod ord">
        <pc:chgData name="蘇泓舉" userId="ef992459-0c0e-4976-8b0c-db4b50594b00" providerId="ADAL" clId="{87833A29-4BF7-43BC-B605-FFC670341567}" dt="2025-09-19T03:12:50.651" v="439" actId="14100"/>
        <pc:sldMkLst>
          <pc:docMk/>
          <pc:sldMk cId="4174134195" sldId="299"/>
        </pc:sldMkLst>
        <pc:spChg chg="mod">
          <ac:chgData name="蘇泓舉" userId="ef992459-0c0e-4976-8b0c-db4b50594b00" providerId="ADAL" clId="{87833A29-4BF7-43BC-B605-FFC670341567}" dt="2025-09-19T03:12:50.651" v="439" actId="14100"/>
          <ac:spMkLst>
            <pc:docMk/>
            <pc:sldMk cId="4174134195" sldId="299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3:09:33.912" v="304" actId="20577"/>
          <ac:spMkLst>
            <pc:docMk/>
            <pc:sldMk cId="4174134195" sldId="299"/>
            <ac:spMk id="6" creationId="{45A7A772-3B10-4046-A1CF-722043634052}"/>
          </ac:spMkLst>
        </pc:spChg>
      </pc:sldChg>
      <pc:sldChg chg="addSp delSp modSp mod">
        <pc:chgData name="蘇泓舉" userId="ef992459-0c0e-4976-8b0c-db4b50594b00" providerId="ADAL" clId="{87833A29-4BF7-43BC-B605-FFC670341567}" dt="2025-09-19T02:44:55.848" v="24" actId="1076"/>
        <pc:sldMkLst>
          <pc:docMk/>
          <pc:sldMk cId="685134028" sldId="300"/>
        </pc:sldMkLst>
        <pc:spChg chg="del">
          <ac:chgData name="蘇泓舉" userId="ef992459-0c0e-4976-8b0c-db4b50594b00" providerId="ADAL" clId="{87833A29-4BF7-43BC-B605-FFC670341567}" dt="2025-09-19T02:44:33.346" v="9" actId="478"/>
          <ac:spMkLst>
            <pc:docMk/>
            <pc:sldMk cId="685134028" sldId="300"/>
            <ac:spMk id="4" creationId="{FE01C88C-47B3-DF89-E2FC-3A10F7FE7D6E}"/>
          </ac:spMkLst>
        </pc:spChg>
        <pc:spChg chg="add mod">
          <ac:chgData name="蘇泓舉" userId="ef992459-0c0e-4976-8b0c-db4b50594b00" providerId="ADAL" clId="{87833A29-4BF7-43BC-B605-FFC670341567}" dt="2025-09-19T02:44:55.848" v="24" actId="1076"/>
          <ac:spMkLst>
            <pc:docMk/>
            <pc:sldMk cId="685134028" sldId="300"/>
            <ac:spMk id="5" creationId="{5946D3D6-4466-4189-93C4-73883DAB1921}"/>
          </ac:spMkLst>
        </pc:spChg>
        <pc:spChg chg="mod">
          <ac:chgData name="蘇泓舉" userId="ef992459-0c0e-4976-8b0c-db4b50594b00" providerId="ADAL" clId="{87833A29-4BF7-43BC-B605-FFC670341567}" dt="2025-09-19T02:44:34.702" v="10" actId="1076"/>
          <ac:spMkLst>
            <pc:docMk/>
            <pc:sldMk cId="685134028" sldId="300"/>
            <ac:spMk id="6" creationId="{45A7A772-3B10-4046-A1CF-722043634052}"/>
          </ac:spMkLst>
        </pc:spChg>
        <pc:graphicFrameChg chg="add mod">
          <ac:chgData name="蘇泓舉" userId="ef992459-0c0e-4976-8b0c-db4b50594b00" providerId="ADAL" clId="{87833A29-4BF7-43BC-B605-FFC670341567}" dt="2025-09-19T02:44:43.746" v="12" actId="1076"/>
          <ac:graphicFrameMkLst>
            <pc:docMk/>
            <pc:sldMk cId="685134028" sldId="300"/>
            <ac:graphicFrameMk id="2" creationId="{4973AF51-9082-45B0-A745-E46C6BD82C30}"/>
          </ac:graphicFrameMkLst>
        </pc:graphicFrameChg>
      </pc:sldChg>
      <pc:sldChg chg="del">
        <pc:chgData name="蘇泓舉" userId="ef992459-0c0e-4976-8b0c-db4b50594b00" providerId="ADAL" clId="{87833A29-4BF7-43BC-B605-FFC670341567}" dt="2025-09-19T03:07:45.264" v="159" actId="47"/>
        <pc:sldMkLst>
          <pc:docMk/>
          <pc:sldMk cId="621597395" sldId="301"/>
        </pc:sldMkLst>
      </pc:sldChg>
      <pc:sldChg chg="del">
        <pc:chgData name="蘇泓舉" userId="ef992459-0c0e-4976-8b0c-db4b50594b00" providerId="ADAL" clId="{87833A29-4BF7-43BC-B605-FFC670341567}" dt="2025-09-19T03:07:45.264" v="159" actId="47"/>
        <pc:sldMkLst>
          <pc:docMk/>
          <pc:sldMk cId="2757141166" sldId="302"/>
        </pc:sldMkLst>
      </pc:sldChg>
      <pc:sldChg chg="addSp delSp modSp mod">
        <pc:chgData name="蘇泓舉" userId="ef992459-0c0e-4976-8b0c-db4b50594b00" providerId="ADAL" clId="{87833A29-4BF7-43BC-B605-FFC670341567}" dt="2025-09-19T03:10:58.986" v="387"/>
        <pc:sldMkLst>
          <pc:docMk/>
          <pc:sldMk cId="2247031560" sldId="303"/>
        </pc:sldMkLst>
        <pc:spChg chg="add del">
          <ac:chgData name="蘇泓舉" userId="ef992459-0c0e-4976-8b0c-db4b50594b00" providerId="ADAL" clId="{87833A29-4BF7-43BC-B605-FFC670341567}" dt="2025-09-19T03:10:32.674" v="380"/>
          <ac:spMkLst>
            <pc:docMk/>
            <pc:sldMk cId="2247031560" sldId="303"/>
            <ac:spMk id="2" creationId="{6DC08327-238A-491D-AAF7-A4F3CF47AB9A}"/>
          </ac:spMkLst>
        </pc:spChg>
        <pc:spChg chg="mod">
          <ac:chgData name="蘇泓舉" userId="ef992459-0c0e-4976-8b0c-db4b50594b00" providerId="ADAL" clId="{87833A29-4BF7-43BC-B605-FFC670341567}" dt="2025-09-19T03:10:58.986" v="387"/>
          <ac:spMkLst>
            <pc:docMk/>
            <pc:sldMk cId="2247031560" sldId="303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3:10:26.791" v="378"/>
          <ac:spMkLst>
            <pc:docMk/>
            <pc:sldMk cId="2247031560" sldId="303"/>
            <ac:spMk id="6" creationId="{45A7A772-3B10-4046-A1CF-722043634052}"/>
          </ac:spMkLst>
        </pc:spChg>
      </pc:sldChg>
      <pc:sldChg chg="addSp delSp modSp mod">
        <pc:chgData name="蘇泓舉" userId="ef992459-0c0e-4976-8b0c-db4b50594b00" providerId="ADAL" clId="{87833A29-4BF7-43BC-B605-FFC670341567}" dt="2025-09-19T03:06:50.354" v="144" actId="20577"/>
        <pc:sldMkLst>
          <pc:docMk/>
          <pc:sldMk cId="3197604554" sldId="306"/>
        </pc:sldMkLst>
        <pc:spChg chg="add del">
          <ac:chgData name="蘇泓舉" userId="ef992459-0c0e-4976-8b0c-db4b50594b00" providerId="ADAL" clId="{87833A29-4BF7-43BC-B605-FFC670341567}" dt="2025-09-19T03:05:38.049" v="99"/>
          <ac:spMkLst>
            <pc:docMk/>
            <pc:sldMk cId="3197604554" sldId="306"/>
            <ac:spMk id="2" creationId="{53A5E39E-B156-48EA-985F-F6AAF3EA828E}"/>
          </ac:spMkLst>
        </pc:spChg>
        <pc:spChg chg="mod">
          <ac:chgData name="蘇泓舉" userId="ef992459-0c0e-4976-8b0c-db4b50594b00" providerId="ADAL" clId="{87833A29-4BF7-43BC-B605-FFC670341567}" dt="2025-09-19T03:06:50.354" v="144" actId="20577"/>
          <ac:spMkLst>
            <pc:docMk/>
            <pc:sldMk cId="3197604554" sldId="306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3:01:08.915" v="94" actId="14100"/>
          <ac:spMkLst>
            <pc:docMk/>
            <pc:sldMk cId="3197604554" sldId="306"/>
            <ac:spMk id="6" creationId="{45A7A772-3B10-4046-A1CF-722043634052}"/>
          </ac:spMkLst>
        </pc:spChg>
      </pc:sldChg>
      <pc:sldChg chg="modSp mod">
        <pc:chgData name="蘇泓舉" userId="ef992459-0c0e-4976-8b0c-db4b50594b00" providerId="ADAL" clId="{87833A29-4BF7-43BC-B605-FFC670341567}" dt="2025-09-19T05:00:47.908" v="561" actId="20577"/>
        <pc:sldMkLst>
          <pc:docMk/>
          <pc:sldMk cId="590474686" sldId="307"/>
        </pc:sldMkLst>
        <pc:spChg chg="mod">
          <ac:chgData name="蘇泓舉" userId="ef992459-0c0e-4976-8b0c-db4b50594b00" providerId="ADAL" clId="{87833A29-4BF7-43BC-B605-FFC670341567}" dt="2025-09-19T05:00:47.908" v="561" actId="20577"/>
          <ac:spMkLst>
            <pc:docMk/>
            <pc:sldMk cId="590474686" sldId="307"/>
            <ac:spMk id="4" creationId="{FE01C88C-47B3-DF89-E2FC-3A10F7FE7D6E}"/>
          </ac:spMkLst>
        </pc:spChg>
      </pc:sldChg>
      <pc:sldChg chg="modSp mod">
        <pc:chgData name="蘇泓舉" userId="ef992459-0c0e-4976-8b0c-db4b50594b00" providerId="ADAL" clId="{87833A29-4BF7-43BC-B605-FFC670341567}" dt="2025-09-19T02:44:17.591" v="6"/>
        <pc:sldMkLst>
          <pc:docMk/>
          <pc:sldMk cId="1823356298" sldId="308"/>
        </pc:sldMkLst>
        <pc:spChg chg="mod">
          <ac:chgData name="蘇泓舉" userId="ef992459-0c0e-4976-8b0c-db4b50594b00" providerId="ADAL" clId="{87833A29-4BF7-43BC-B605-FFC670341567}" dt="2025-09-19T02:44:12.016" v="5" actId="403"/>
          <ac:spMkLst>
            <pc:docMk/>
            <pc:sldMk cId="1823356298" sldId="308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2:44:17.591" v="6"/>
          <ac:spMkLst>
            <pc:docMk/>
            <pc:sldMk cId="1823356298" sldId="308"/>
            <ac:spMk id="6" creationId="{45A7A772-3B10-4046-A1CF-722043634052}"/>
          </ac:spMkLst>
        </pc:spChg>
      </pc:sldChg>
      <pc:sldChg chg="modSp add mod ord">
        <pc:chgData name="蘇泓舉" userId="ef992459-0c0e-4976-8b0c-db4b50594b00" providerId="ADAL" clId="{87833A29-4BF7-43BC-B605-FFC670341567}" dt="2025-09-19T02:49:19.554" v="43"/>
        <pc:sldMkLst>
          <pc:docMk/>
          <pc:sldMk cId="498371571" sldId="309"/>
        </pc:sldMkLst>
        <pc:spChg chg="mod">
          <ac:chgData name="蘇泓舉" userId="ef992459-0c0e-4976-8b0c-db4b50594b00" providerId="ADAL" clId="{87833A29-4BF7-43BC-B605-FFC670341567}" dt="2025-09-19T02:49:14.173" v="41" actId="404"/>
          <ac:spMkLst>
            <pc:docMk/>
            <pc:sldMk cId="498371571" sldId="309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2:49:06.804" v="37"/>
          <ac:spMkLst>
            <pc:docMk/>
            <pc:sldMk cId="498371571" sldId="309"/>
            <ac:spMk id="6" creationId="{45A7A772-3B10-4046-A1CF-722043634052}"/>
          </ac:spMkLst>
        </pc:spChg>
      </pc:sldChg>
      <pc:sldChg chg="add">
        <pc:chgData name="蘇泓舉" userId="ef992459-0c0e-4976-8b0c-db4b50594b00" providerId="ADAL" clId="{87833A29-4BF7-43BC-B605-FFC670341567}" dt="2025-09-19T02:49:00.768" v="36"/>
        <pc:sldMkLst>
          <pc:docMk/>
          <pc:sldMk cId="1601862416" sldId="310"/>
        </pc:sldMkLst>
      </pc:sldChg>
      <pc:sldChg chg="modSp add mod">
        <pc:chgData name="蘇泓舉" userId="ef992459-0c0e-4976-8b0c-db4b50594b00" providerId="ADAL" clId="{87833A29-4BF7-43BC-B605-FFC670341567}" dt="2025-09-19T02:49:36.463" v="50" actId="403"/>
        <pc:sldMkLst>
          <pc:docMk/>
          <pc:sldMk cId="3387095516" sldId="311"/>
        </pc:sldMkLst>
        <pc:spChg chg="mod">
          <ac:chgData name="蘇泓舉" userId="ef992459-0c0e-4976-8b0c-db4b50594b00" providerId="ADAL" clId="{87833A29-4BF7-43BC-B605-FFC670341567}" dt="2025-09-19T02:49:36.463" v="50" actId="403"/>
          <ac:spMkLst>
            <pc:docMk/>
            <pc:sldMk cId="3387095516" sldId="311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2:49:27.945" v="45"/>
          <ac:spMkLst>
            <pc:docMk/>
            <pc:sldMk cId="3387095516" sldId="311"/>
            <ac:spMk id="6" creationId="{45A7A772-3B10-4046-A1CF-722043634052}"/>
          </ac:spMkLst>
        </pc:spChg>
      </pc:sldChg>
      <pc:sldChg chg="add del">
        <pc:chgData name="蘇泓舉" userId="ef992459-0c0e-4976-8b0c-db4b50594b00" providerId="ADAL" clId="{87833A29-4BF7-43BC-B605-FFC670341567}" dt="2025-09-19T02:49:42.729" v="52" actId="47"/>
        <pc:sldMkLst>
          <pc:docMk/>
          <pc:sldMk cId="851297734" sldId="312"/>
        </pc:sldMkLst>
      </pc:sldChg>
      <pc:sldChg chg="addSp delSp modSp add mod">
        <pc:chgData name="蘇泓舉" userId="ef992459-0c0e-4976-8b0c-db4b50594b00" providerId="ADAL" clId="{87833A29-4BF7-43BC-B605-FFC670341567}" dt="2025-09-19T03:07:34.722" v="158" actId="403"/>
        <pc:sldMkLst>
          <pc:docMk/>
          <pc:sldMk cId="4146330275" sldId="312"/>
        </pc:sldMkLst>
        <pc:spChg chg="add del">
          <ac:chgData name="蘇泓舉" userId="ef992459-0c0e-4976-8b0c-db4b50594b00" providerId="ADAL" clId="{87833A29-4BF7-43BC-B605-FFC670341567}" dt="2025-09-19T03:06:34.731" v="127"/>
          <ac:spMkLst>
            <pc:docMk/>
            <pc:sldMk cId="4146330275" sldId="312"/>
            <ac:spMk id="2" creationId="{ADCE1C6E-8856-4BC7-AFBF-625556F2274E}"/>
          </ac:spMkLst>
        </pc:spChg>
        <pc:spChg chg="mod">
          <ac:chgData name="蘇泓舉" userId="ef992459-0c0e-4976-8b0c-db4b50594b00" providerId="ADAL" clId="{87833A29-4BF7-43BC-B605-FFC670341567}" dt="2025-09-19T03:07:34.722" v="158" actId="403"/>
          <ac:spMkLst>
            <pc:docMk/>
            <pc:sldMk cId="4146330275" sldId="312"/>
            <ac:spMk id="4" creationId="{FE01C88C-47B3-DF89-E2FC-3A10F7FE7D6E}"/>
          </ac:spMkLst>
        </pc:spChg>
      </pc:sldChg>
      <pc:sldChg chg="add ord">
        <pc:chgData name="蘇泓舉" userId="ef992459-0c0e-4976-8b0c-db4b50594b00" providerId="ADAL" clId="{87833A29-4BF7-43BC-B605-FFC670341567}" dt="2025-09-19T03:10:23.234" v="377" actId="20578"/>
        <pc:sldMkLst>
          <pc:docMk/>
          <pc:sldMk cId="480935088" sldId="313"/>
        </pc:sldMkLst>
      </pc:sldChg>
      <pc:sldChg chg="addSp delSp modSp add mod">
        <pc:chgData name="蘇泓舉" userId="ef992459-0c0e-4976-8b0c-db4b50594b00" providerId="ADAL" clId="{87833A29-4BF7-43BC-B605-FFC670341567}" dt="2025-09-19T03:17:06.551" v="509"/>
        <pc:sldMkLst>
          <pc:docMk/>
          <pc:sldMk cId="521186608" sldId="314"/>
        </pc:sldMkLst>
        <pc:spChg chg="del">
          <ac:chgData name="蘇泓舉" userId="ef992459-0c0e-4976-8b0c-db4b50594b00" providerId="ADAL" clId="{87833A29-4BF7-43BC-B605-FFC670341567}" dt="2025-09-19T03:13:58.347" v="471" actId="478"/>
          <ac:spMkLst>
            <pc:docMk/>
            <pc:sldMk cId="521186608" sldId="314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3:13:49.862" v="468" actId="20577"/>
          <ac:spMkLst>
            <pc:docMk/>
            <pc:sldMk cId="521186608" sldId="314"/>
            <ac:spMk id="6" creationId="{45A7A772-3B10-4046-A1CF-722043634052}"/>
          </ac:spMkLst>
        </pc:spChg>
        <pc:graphicFrameChg chg="add mod modGraphic">
          <ac:chgData name="蘇泓舉" userId="ef992459-0c0e-4976-8b0c-db4b50594b00" providerId="ADAL" clId="{87833A29-4BF7-43BC-B605-FFC670341567}" dt="2025-09-19T03:16:58.695" v="507"/>
          <ac:graphicFrameMkLst>
            <pc:docMk/>
            <pc:sldMk cId="521186608" sldId="314"/>
            <ac:graphicFrameMk id="2" creationId="{BAE6C631-25D2-4FE6-B6E6-5E26AC5A2F0A}"/>
          </ac:graphicFrameMkLst>
        </pc:graphicFrameChg>
        <pc:graphicFrameChg chg="add del mod">
          <ac:chgData name="蘇泓舉" userId="ef992459-0c0e-4976-8b0c-db4b50594b00" providerId="ADAL" clId="{87833A29-4BF7-43BC-B605-FFC670341567}" dt="2025-09-19T03:17:06.551" v="509"/>
          <ac:graphicFrameMkLst>
            <pc:docMk/>
            <pc:sldMk cId="521186608" sldId="314"/>
            <ac:graphicFrameMk id="5" creationId="{B483F2D4-4F63-409B-A0E4-BD9C9D5933EA}"/>
          </ac:graphicFrameMkLst>
        </pc:graphicFrameChg>
        <pc:picChg chg="add del">
          <ac:chgData name="蘇泓舉" userId="ef992459-0c0e-4976-8b0c-db4b50594b00" providerId="ADAL" clId="{87833A29-4BF7-43BC-B605-FFC670341567}" dt="2025-09-19T03:13:56.168" v="470"/>
          <ac:picMkLst>
            <pc:docMk/>
            <pc:sldMk cId="521186608" sldId="314"/>
            <ac:picMk id="5122" creationId="{74BF7E0D-47DB-43F4-BF83-F97061314376}"/>
          </ac:picMkLst>
        </pc:picChg>
        <pc:picChg chg="add mod">
          <ac:chgData name="蘇泓舉" userId="ef992459-0c0e-4976-8b0c-db4b50594b00" providerId="ADAL" clId="{87833A29-4BF7-43BC-B605-FFC670341567}" dt="2025-09-19T03:15:15.898" v="505" actId="1076"/>
          <ac:picMkLst>
            <pc:docMk/>
            <pc:sldMk cId="521186608" sldId="314"/>
            <ac:picMk id="5124" creationId="{1BEBCA59-BC9B-429E-A06C-D1655D5C81DF}"/>
          </ac:picMkLst>
        </pc:picChg>
        <pc:picChg chg="add mod">
          <ac:chgData name="蘇泓舉" userId="ef992459-0c0e-4976-8b0c-db4b50594b00" providerId="ADAL" clId="{87833A29-4BF7-43BC-B605-FFC670341567}" dt="2025-09-19T03:15:16.801" v="506" actId="1076"/>
          <ac:picMkLst>
            <pc:docMk/>
            <pc:sldMk cId="521186608" sldId="314"/>
            <ac:picMk id="5126" creationId="{2647AC07-875C-4BE1-B49C-A5EE0BEBB88B}"/>
          </ac:picMkLst>
        </pc:picChg>
      </pc:sldChg>
      <pc:sldChg chg="addSp delSp modSp add mod">
        <pc:chgData name="蘇泓舉" userId="ef992459-0c0e-4976-8b0c-db4b50594b00" providerId="ADAL" clId="{87833A29-4BF7-43BC-B605-FFC670341567}" dt="2025-09-19T03:18:25.846" v="526" actId="1076"/>
        <pc:sldMkLst>
          <pc:docMk/>
          <pc:sldMk cId="4279903279" sldId="315"/>
        </pc:sldMkLst>
        <pc:spChg chg="mod">
          <ac:chgData name="蘇泓舉" userId="ef992459-0c0e-4976-8b0c-db4b50594b00" providerId="ADAL" clId="{87833A29-4BF7-43BC-B605-FFC670341567}" dt="2025-09-19T03:17:58.074" v="520" actId="1076"/>
          <ac:spMkLst>
            <pc:docMk/>
            <pc:sldMk cId="4279903279" sldId="315"/>
            <ac:spMk id="3" creationId="{B7D8CA5E-9B24-DD10-08B6-5D609354CD3E}"/>
          </ac:spMkLst>
        </pc:spChg>
        <pc:graphicFrameChg chg="del mod modGraphic">
          <ac:chgData name="蘇泓舉" userId="ef992459-0c0e-4976-8b0c-db4b50594b00" providerId="ADAL" clId="{87833A29-4BF7-43BC-B605-FFC670341567}" dt="2025-09-19T03:18:16.197" v="522" actId="478"/>
          <ac:graphicFrameMkLst>
            <pc:docMk/>
            <pc:sldMk cId="4279903279" sldId="315"/>
            <ac:graphicFrameMk id="2" creationId="{BAE6C631-25D2-4FE6-B6E6-5E26AC5A2F0A}"/>
          </ac:graphicFrameMkLst>
        </pc:graphicFrameChg>
        <pc:graphicFrameChg chg="add mod">
          <ac:chgData name="蘇泓舉" userId="ef992459-0c0e-4976-8b0c-db4b50594b00" providerId="ADAL" clId="{87833A29-4BF7-43BC-B605-FFC670341567}" dt="2025-09-19T03:18:19.888" v="524" actId="1076"/>
          <ac:graphicFrameMkLst>
            <pc:docMk/>
            <pc:sldMk cId="4279903279" sldId="315"/>
            <ac:graphicFrameMk id="4" creationId="{A8AA73A5-39C3-4E87-833D-CE97DB2FC65B}"/>
          </ac:graphicFrameMkLst>
        </pc:graphicFrameChg>
        <pc:picChg chg="mod">
          <ac:chgData name="蘇泓舉" userId="ef992459-0c0e-4976-8b0c-db4b50594b00" providerId="ADAL" clId="{87833A29-4BF7-43BC-B605-FFC670341567}" dt="2025-09-19T03:18:25.846" v="526" actId="1076"/>
          <ac:picMkLst>
            <pc:docMk/>
            <pc:sldMk cId="4279903279" sldId="315"/>
            <ac:picMk id="5124" creationId="{1BEBCA59-BC9B-429E-A06C-D1655D5C81DF}"/>
          </ac:picMkLst>
        </pc:picChg>
        <pc:picChg chg="mod">
          <ac:chgData name="蘇泓舉" userId="ef992459-0c0e-4976-8b0c-db4b50594b00" providerId="ADAL" clId="{87833A29-4BF7-43BC-B605-FFC670341567}" dt="2025-09-19T03:18:21.361" v="525" actId="1076"/>
          <ac:picMkLst>
            <pc:docMk/>
            <pc:sldMk cId="4279903279" sldId="315"/>
            <ac:picMk id="5126" creationId="{2647AC07-875C-4BE1-B49C-A5EE0BEBB88B}"/>
          </ac:picMkLst>
        </pc:picChg>
      </pc:sldChg>
      <pc:sldChg chg="addSp delSp modSp add mod">
        <pc:chgData name="蘇泓舉" userId="ef992459-0c0e-4976-8b0c-db4b50594b00" providerId="ADAL" clId="{87833A29-4BF7-43BC-B605-FFC670341567}" dt="2025-09-19T04:05:36.632" v="553"/>
        <pc:sldMkLst>
          <pc:docMk/>
          <pc:sldMk cId="324419578" sldId="316"/>
        </pc:sldMkLst>
        <pc:spChg chg="del mod">
          <ac:chgData name="蘇泓舉" userId="ef992459-0c0e-4976-8b0c-db4b50594b00" providerId="ADAL" clId="{87833A29-4BF7-43BC-B605-FFC670341567}" dt="2025-09-19T04:05:29.441" v="551" actId="478"/>
          <ac:spMkLst>
            <pc:docMk/>
            <pc:sldMk cId="324419578" sldId="316"/>
            <ac:spMk id="4" creationId="{FE01C88C-47B3-DF89-E2FC-3A10F7FE7D6E}"/>
          </ac:spMkLst>
        </pc:spChg>
        <pc:spChg chg="mod">
          <ac:chgData name="蘇泓舉" userId="ef992459-0c0e-4976-8b0c-db4b50594b00" providerId="ADAL" clId="{87833A29-4BF7-43BC-B605-FFC670341567}" dt="2025-09-19T04:05:36.632" v="553"/>
          <ac:spMkLst>
            <pc:docMk/>
            <pc:sldMk cId="324419578" sldId="316"/>
            <ac:spMk id="6" creationId="{45A7A772-3B10-4046-A1CF-722043634052}"/>
          </ac:spMkLst>
        </pc:spChg>
        <pc:graphicFrameChg chg="add mod">
          <ac:chgData name="蘇泓舉" userId="ef992459-0c0e-4976-8b0c-db4b50594b00" providerId="ADAL" clId="{87833A29-4BF7-43BC-B605-FFC670341567}" dt="2025-09-19T04:05:30.262" v="552"/>
          <ac:graphicFrameMkLst>
            <pc:docMk/>
            <pc:sldMk cId="324419578" sldId="316"/>
            <ac:graphicFrameMk id="2" creationId="{C6112943-9CBE-4251-AB91-BBFA18AE06E8}"/>
          </ac:graphicFrameMkLst>
        </pc:graphicFrameChg>
      </pc:sldChg>
      <pc:sldChg chg="modSp add mod">
        <pc:chgData name="蘇泓舉" userId="ef992459-0c0e-4976-8b0c-db4b50594b00" providerId="ADAL" clId="{87833A29-4BF7-43BC-B605-FFC670341567}" dt="2025-09-19T04:05:57.464" v="556"/>
        <pc:sldMkLst>
          <pc:docMk/>
          <pc:sldMk cId="57038506" sldId="317"/>
        </pc:sldMkLst>
        <pc:spChg chg="mod">
          <ac:chgData name="蘇泓舉" userId="ef992459-0c0e-4976-8b0c-db4b50594b00" providerId="ADAL" clId="{87833A29-4BF7-43BC-B605-FFC670341567}" dt="2025-09-19T04:05:53.249" v="555"/>
          <ac:spMkLst>
            <pc:docMk/>
            <pc:sldMk cId="57038506" sldId="317"/>
            <ac:spMk id="6" creationId="{45A7A772-3B10-4046-A1CF-722043634052}"/>
          </ac:spMkLst>
        </pc:spChg>
        <pc:graphicFrameChg chg="mod">
          <ac:chgData name="蘇泓舉" userId="ef992459-0c0e-4976-8b0c-db4b50594b00" providerId="ADAL" clId="{87833A29-4BF7-43BC-B605-FFC670341567}" dt="2025-09-19T04:05:57.464" v="556"/>
          <ac:graphicFrameMkLst>
            <pc:docMk/>
            <pc:sldMk cId="57038506" sldId="317"/>
            <ac:graphicFrameMk id="2" creationId="{C6112943-9CBE-4251-AB91-BBFA18AE06E8}"/>
          </ac:graphicFrameMkLst>
        </pc:graphicFrameChg>
      </pc:sldChg>
      <pc:sldChg chg="add del">
        <pc:chgData name="蘇泓舉" userId="ef992459-0c0e-4976-8b0c-db4b50594b00" providerId="ADAL" clId="{87833A29-4BF7-43BC-B605-FFC670341567}" dt="2025-09-19T04:05:18.770" v="548"/>
        <pc:sldMkLst>
          <pc:docMk/>
          <pc:sldMk cId="1865421824" sldId="3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4ca29c69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4ca29c69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9C67019-562C-3641-79AC-E6D9AA41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8f188c2f5_0_320:notes">
            <a:extLst>
              <a:ext uri="{FF2B5EF4-FFF2-40B4-BE49-F238E27FC236}">
                <a16:creationId xmlns:a16="http://schemas.microsoft.com/office/drawing/2014/main" id="{857295C5-C77B-64FE-1221-484A42C7D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a8f188c2f5_0_320:notes">
            <a:extLst>
              <a:ext uri="{FF2B5EF4-FFF2-40B4-BE49-F238E27FC236}">
                <a16:creationId xmlns:a16="http://schemas.microsoft.com/office/drawing/2014/main" id="{82AB2CBF-7B69-7F14-40D9-E56806DDF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https://upload.wikimedia.org/wikipedia/commons/2/22/Quanterr.png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6308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7320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525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2041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929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434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2294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204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379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2543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004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958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498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7799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585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400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742B85D-F725-3119-40A2-7C0D9FB1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4023ea93a_0_504:notes">
            <a:extLst>
              <a:ext uri="{FF2B5EF4-FFF2-40B4-BE49-F238E27FC236}">
                <a16:creationId xmlns:a16="http://schemas.microsoft.com/office/drawing/2014/main" id="{8C8134FE-DAC5-175F-4360-806DEBAE73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4023ea93a_0_504:notes">
            <a:extLst>
              <a:ext uri="{FF2B5EF4-FFF2-40B4-BE49-F238E27FC236}">
                <a16:creationId xmlns:a16="http://schemas.microsoft.com/office/drawing/2014/main" id="{D8FE1E96-4148-7774-E9CE-1C7333336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655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Orange">
  <p:cSld name="CUSTOM_1">
    <p:bg>
      <p:bgPr>
        <a:solidFill>
          <a:srgbClr val="EA8600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50" y="4524000"/>
            <a:ext cx="9144000" cy="61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4" name="Google Shape;14;p3"/>
          <p:cNvCxnSpPr/>
          <p:nvPr/>
        </p:nvCxnSpPr>
        <p:spPr>
          <a:xfrm rot="10800000">
            <a:off x="426304" y="1476158"/>
            <a:ext cx="0" cy="1869900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962188" y="20487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oogle Sans"/>
              <a:buNone/>
              <a:defRPr sz="4400" b="0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3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3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3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3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3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3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3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 sz="3600" b="0" i="0" u="none" strike="noStrike" cap="non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Orange">
  <p:cSld name="TITLE_2_4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860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Box - Crimson">
  <p:cSld name="TITLE_2_3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426300" y="264375"/>
            <a:ext cx="77970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" name="Google Shape;26;p6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7" name="Google Shape;27;p6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77970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344500" y="1556575"/>
            <a:ext cx="3966600" cy="27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Box - Orange">
  <p:cSld name="TITLE_2_3_4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44500" y="1556575"/>
            <a:ext cx="3966600" cy="27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" name="Google Shape;33;p7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860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4" name="Google Shape;34;p7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77970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Box - Crimson 1">
  <p:cSld name="TITLE_2_3_3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344500" y="1546975"/>
            <a:ext cx="8447700" cy="3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6510900" y="3518775"/>
            <a:ext cx="2633100" cy="162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77970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Box - Orange">
  <p:cSld name="TITLE_2_3_2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344500" y="1546975"/>
            <a:ext cx="8447700" cy="3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860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6" name="Google Shape;46;p9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77970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ox - Crimson">
  <p:cSld name="TITLE_2_3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44500" y="1546975"/>
            <a:ext cx="3911400" cy="3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1" name="Google Shape;51;p10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2"/>
          </p:nvPr>
        </p:nvSpPr>
        <p:spPr>
          <a:xfrm>
            <a:off x="4802775" y="1546975"/>
            <a:ext cx="3911400" cy="3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53" name="Google Shape;53;p10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77970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ox - Orange">
  <p:cSld name="TITLE_2_3_1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44500" y="1546975"/>
            <a:ext cx="3911400" cy="3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860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77970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 Light"/>
              <a:buNone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2"/>
          </p:nvPr>
        </p:nvSpPr>
        <p:spPr>
          <a:xfrm>
            <a:off x="4802775" y="1546975"/>
            <a:ext cx="3911400" cy="33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screen">
  <p:cSld name="Blank_4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-18050" y="0"/>
            <a:ext cx="9162000" cy="51435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3000" b="1"/>
              <a:t>Fullscreen</a:t>
            </a:r>
            <a:endParaRPr sz="3000" b="1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3000" b="1"/>
              <a:t>Show Presenter</a:t>
            </a:r>
            <a:endParaRPr sz="3000" b="1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y - Crimson">
  <p:cSld name="TITLE_2_2_1">
    <p:bg>
      <p:bgPr>
        <a:solidFill>
          <a:srgbClr val="F1F3F4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-18050" y="0"/>
            <a:ext cx="4589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44501" y="17187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38646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2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4571650" y="0"/>
            <a:ext cx="45723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y - Crimson Flip">
  <p:cSld name="TITLE_2_2_1_2">
    <p:bg>
      <p:bgPr>
        <a:solidFill>
          <a:srgbClr val="F1F3F4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-18050" y="0"/>
            <a:ext cx="4589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4992701" y="17187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4992700" y="603900"/>
            <a:ext cx="38646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y - Orange">
  <p:cSld name="TITLE_2_2_1_1">
    <p:bg>
      <p:bgPr>
        <a:solidFill>
          <a:srgbClr val="F1F3F4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-18050" y="0"/>
            <a:ext cx="4589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344501" y="17187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3864600" cy="9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860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2"/>
          </p:nvPr>
        </p:nvSpPr>
        <p:spPr>
          <a:xfrm>
            <a:off x="344501" y="4743625"/>
            <a:ext cx="4345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Google Sans"/>
              <a:buNone/>
              <a:defRPr sz="60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y - Orange Flip">
  <p:cSld name="TITLE_2_2_1_1_1">
    <p:bg>
      <p:bgPr>
        <a:solidFill>
          <a:srgbClr val="F1F3F4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-18050" y="0"/>
            <a:ext cx="4589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4992701" y="1718700"/>
            <a:ext cx="2976600" cy="20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●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○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800"/>
              <a:buFont typeface="Google Sans"/>
              <a:buChar char="■"/>
              <a:defRPr i="0" u="none" strike="noStrike" cap="non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4992700" y="603900"/>
            <a:ext cx="3864600" cy="9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 Light"/>
              <a:buNone/>
              <a:defRPr sz="3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-22468" y="235365"/>
            <a:ext cx="57900" cy="4672800"/>
          </a:xfrm>
          <a:prstGeom prst="rect">
            <a:avLst/>
          </a:prstGeom>
          <a:solidFill>
            <a:srgbClr val="EA8600"/>
          </a:solidFill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9BF7"/>
              </a:buClr>
              <a:buSzPts val="1200"/>
              <a:buFont typeface="Helvetica Neue Light"/>
              <a:buNone/>
            </a:pPr>
            <a:endParaRPr sz="1200" b="0" i="0" u="none" strike="noStrike" cap="none">
              <a:solidFill>
                <a:srgbClr val="1D8E3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y - Blank">
  <p:cSld name="Blank_3">
    <p:bg>
      <p:bgPr>
        <a:solidFill>
          <a:srgbClr val="F1F3F4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-18050" y="0"/>
            <a:ext cx="4589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- Crimson">
  <p:cSld name="CUSTOM_2_1_1"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92925" y="1049175"/>
            <a:ext cx="7831200" cy="19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3C4043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522575" y="3458700"/>
            <a:ext cx="465900" cy="94500"/>
          </a:xfrm>
          <a:prstGeom prst="roundRect">
            <a:avLst>
              <a:gd name="adj" fmla="val 50000"/>
            </a:avLst>
          </a:prstGeom>
          <a:solidFill>
            <a:srgbClr val="A51C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422950" y="3714075"/>
            <a:ext cx="7831200" cy="3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220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220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220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220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220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220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220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220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2"/>
          </p:nvPr>
        </p:nvSpPr>
        <p:spPr>
          <a:xfrm>
            <a:off x="422950" y="2984175"/>
            <a:ext cx="78012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2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- Orange">
  <p:cSld name="CUSTOM_2_1_1_1"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subTitle" idx="1"/>
          </p:nvPr>
        </p:nvSpPr>
        <p:spPr>
          <a:xfrm>
            <a:off x="422950" y="2984175"/>
            <a:ext cx="78012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2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2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92925" y="1049175"/>
            <a:ext cx="7831200" cy="19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3C4043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/>
          <p:nvPr/>
        </p:nvSpPr>
        <p:spPr>
          <a:xfrm>
            <a:off x="522575" y="3458700"/>
            <a:ext cx="465900" cy="94500"/>
          </a:xfrm>
          <a:prstGeom prst="roundRect">
            <a:avLst>
              <a:gd name="adj" fmla="val 50000"/>
            </a:avLst>
          </a:pr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2"/>
          </p:nvPr>
        </p:nvSpPr>
        <p:spPr>
          <a:xfrm>
            <a:off x="422950" y="3714075"/>
            <a:ext cx="7831200" cy="3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AA0A6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220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220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220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220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220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220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220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220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6627000" y="3606900"/>
            <a:ext cx="2517000" cy="153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Leave space for headshot</a:t>
            </a:r>
            <a:endParaRPr sz="1700" b="1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948776" y="359541"/>
            <a:ext cx="77079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955677" y="908685"/>
            <a:ext cx="7701000" cy="3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l" rtl="0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5186" algn="l" rtl="0">
              <a:spcBef>
                <a:spcPts val="360"/>
              </a:spcBef>
              <a:spcAft>
                <a:spcPts val="0"/>
              </a:spcAft>
              <a:buSzPts val="1836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Trebuchet MS"/>
                <a:cs typeface="Trebuchet MS"/>
              </a:defRPr>
            </a:lvl1pPr>
          </a:lstStyle>
          <a:p>
            <a:pPr marL="95885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77672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340663" y="1128663"/>
            <a:ext cx="7877100" cy="3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0868B"/>
              </a:buClr>
              <a:buSzPts val="1800"/>
              <a:buFont typeface="Google Sans"/>
              <a:buChar char="•"/>
              <a:defRPr sz="1800" i="0" u="none" strike="noStrike" cap="none">
                <a:solidFill>
                  <a:srgbClr val="80868B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95688" y="493663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3000"/>
              <a:buFont typeface="Google Sans"/>
              <a:buNone/>
              <a:defRPr sz="3000" b="0" i="0" u="none" strike="noStrike" cap="none">
                <a:solidFill>
                  <a:srgbClr val="3C4043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 Light"/>
              <a:buNone/>
              <a:defRPr sz="43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 Light"/>
              <a:buNone/>
              <a:defRPr sz="43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 Light"/>
              <a:buNone/>
              <a:defRPr sz="43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 Light"/>
              <a:buNone/>
              <a:defRPr sz="43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 Light"/>
              <a:buNone/>
              <a:defRPr sz="43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 Light"/>
              <a:buNone/>
              <a:defRPr sz="43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 Light"/>
              <a:buNone/>
              <a:defRPr sz="43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Helvetica Neue Light"/>
              <a:buNone/>
              <a:defRPr sz="43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oboflow.com/guide-to-yolo-models/" TargetMode="External"/><Relationship Id="rId7" Type="http://schemas.openxmlformats.org/officeDocument/2006/relationships/hyperlink" Target="https://pyimagesearch.com/2022/05/09/an-incremental-improvement-with-darknet-53-and-multi-scale-predictions-yolov3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rxiv.org/html/2504.18586v1" TargetMode="External"/><Relationship Id="rId5" Type="http://schemas.openxmlformats.org/officeDocument/2006/relationships/hyperlink" Target="https://ar5iv.labs.arxiv.org/html/1612.08242" TargetMode="External"/><Relationship Id="rId4" Type="http://schemas.openxmlformats.org/officeDocument/2006/relationships/hyperlink" Target="https://arxiv.org/abs/1612.0824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enk-bircanoglu.medium.com/review-of-yolov4-architecture-f488ec32c1c4" TargetMode="External"/><Relationship Id="rId7" Type="http://schemas.openxmlformats.org/officeDocument/2006/relationships/hyperlink" Target="https://docs.ultralytics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blog.roboflow.com/yolov5-improvements-and-evaluation/" TargetMode="External"/><Relationship Id="rId5" Type="http://schemas.openxmlformats.org/officeDocument/2006/relationships/hyperlink" Target="https://arxiv.org/html/2411.00201v3" TargetMode="External"/><Relationship Id="rId4" Type="http://schemas.openxmlformats.org/officeDocument/2006/relationships/hyperlink" Target="https://viso-ai.translate.goog/deep-learning/yolov5-controversy/?_x_tr_sl=en&amp;_x_tr_tl=id&amp;_x_tr_hl=id&amp;_x_tr_pto=tc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ultralytics.com/compare/yolov5-vs-yolov8/" TargetMode="External"/><Relationship Id="rId3" Type="http://schemas.openxmlformats.org/officeDocument/2006/relationships/hyperlink" Target="https://docs.ultralytics.com/" TargetMode="External"/><Relationship Id="rId7" Type="http://schemas.openxmlformats.org/officeDocument/2006/relationships/hyperlink" Target="https://sandar-ali.medium.com/ultralytics-unveiled-yolov8-on-january-10-2023-which-has-garnered-over-one-million-downloads-338d8f11ec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ithub.com/WongKinYiu/yolov7" TargetMode="External"/><Relationship Id="rId5" Type="http://schemas.openxmlformats.org/officeDocument/2006/relationships/hyperlink" Target="https://blog.roboflow.com/yolov7-breakdown/" TargetMode="External"/><Relationship Id="rId4" Type="http://schemas.openxmlformats.org/officeDocument/2006/relationships/hyperlink" Target="https://github.com/wongkinyiu/yolov7/release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ltralytics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cs.ultralytics.com/models/yolo11/" TargetMode="External"/><Relationship Id="rId5" Type="http://schemas.openxmlformats.org/officeDocument/2006/relationships/hyperlink" Target="https://arxiv.org/html/2411.00201v3" TargetMode="External"/><Relationship Id="rId4" Type="http://schemas.openxmlformats.org/officeDocument/2006/relationships/hyperlink" Target="https://arxiv.org/abs/2402.13616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304.00501v6" TargetMode="External"/><Relationship Id="rId7" Type="http://schemas.openxmlformats.org/officeDocument/2006/relationships/hyperlink" Target="https://docs.ultralytics.com/compare/yolov10-vs-yolov5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cs.ultralytics.com/compare/yolov8-vs-yolov5/" TargetMode="External"/><Relationship Id="rId5" Type="http://schemas.openxmlformats.org/officeDocument/2006/relationships/hyperlink" Target="https://www.v7labs.com/blog/yolo-object-detection" TargetMode="External"/><Relationship Id="rId4" Type="http://schemas.openxmlformats.org/officeDocument/2006/relationships/hyperlink" Target="https://github.com/ultralytics/yolov5/releases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ultralytics.com/models/yolo11/" TargetMode="External"/><Relationship Id="rId3" Type="http://schemas.openxmlformats.org/officeDocument/2006/relationships/hyperlink" Target="https://www.v7labs.com/blog/yolo-object-detection" TargetMode="External"/><Relationship Id="rId7" Type="http://schemas.openxmlformats.org/officeDocument/2006/relationships/hyperlink" Target="https://docs.ultralytics.com/compare/yolov5-vs-yolov8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rxiv.org/html/2304.00501v6" TargetMode="External"/><Relationship Id="rId5" Type="http://schemas.openxmlformats.org/officeDocument/2006/relationships/hyperlink" Target="https://docs.ultralytics.com/compare/yolov9-vs-yolov10/" TargetMode="External"/><Relationship Id="rId10" Type="http://schemas.openxmlformats.org/officeDocument/2006/relationships/hyperlink" Target="https://arxiv.org/abs/2402.13616" TargetMode="External"/><Relationship Id="rId4" Type="http://schemas.openxmlformats.org/officeDocument/2006/relationships/hyperlink" Target="https://pyimagesearch.com/2022/05/09/an-incremental-improvement-with-darknet-53-and-multi-scale-predictions-yolov3/" TargetMode="External"/><Relationship Id="rId9" Type="http://schemas.openxmlformats.org/officeDocument/2006/relationships/hyperlink" Target="https://arxiv.org/html/2504.11995v1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subTitle" idx="2"/>
          </p:nvPr>
        </p:nvSpPr>
        <p:spPr>
          <a:xfrm>
            <a:off x="422950" y="2984175"/>
            <a:ext cx="78012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百兆鍶國際有限公司</a:t>
            </a:r>
            <a:r>
              <a:rPr lang="en-US" altLang="zh-TW" dirty="0"/>
              <a:t>-</a:t>
            </a:r>
            <a:r>
              <a:rPr lang="zh-TW" altLang="en-US" dirty="0"/>
              <a:t>蘇泓舉 應用工程師</a:t>
            </a:r>
            <a:endParaRPr dirty="0"/>
          </a:p>
        </p:txBody>
      </p:sp>
      <p:sp>
        <p:nvSpPr>
          <p:cNvPr id="112" name="Google Shape;112;p22"/>
          <p:cNvSpPr txBox="1">
            <a:spLocks noGrp="1"/>
          </p:cNvSpPr>
          <p:nvPr>
            <p:ph type="title"/>
          </p:nvPr>
        </p:nvSpPr>
        <p:spPr>
          <a:xfrm>
            <a:off x="392925" y="1049175"/>
            <a:ext cx="7831200" cy="19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電腦視覺課程</a:t>
            </a:r>
            <a:endParaRPr dirty="0"/>
          </a:p>
        </p:txBody>
      </p:sp>
      <p:sp>
        <p:nvSpPr>
          <p:cNvPr id="113" name="Google Shape;113;p22"/>
          <p:cNvSpPr txBox="1">
            <a:spLocks noGrp="1"/>
          </p:cNvSpPr>
          <p:nvPr>
            <p:ph type="subTitle" idx="1"/>
          </p:nvPr>
        </p:nvSpPr>
        <p:spPr>
          <a:xfrm>
            <a:off x="422950" y="3714075"/>
            <a:ext cx="7831200" cy="30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15D21CB-D09B-C990-5DE4-DAB50BBAD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>
            <a:extLst>
              <a:ext uri="{FF2B5EF4-FFF2-40B4-BE49-F238E27FC236}">
                <a16:creationId xmlns:a16="http://schemas.microsoft.com/office/drawing/2014/main" id="{55965D56-71CD-62FE-C029-B3B51E470F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500" y="603900"/>
            <a:ext cx="38646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課程大綱</a:t>
            </a:r>
          </a:p>
        </p:txBody>
      </p:sp>
      <p:sp>
        <p:nvSpPr>
          <p:cNvPr id="2" name="Google Shape;187;p33">
            <a:extLst>
              <a:ext uri="{FF2B5EF4-FFF2-40B4-BE49-F238E27FC236}">
                <a16:creationId xmlns:a16="http://schemas.microsoft.com/office/drawing/2014/main" id="{50DAB671-5D54-694E-5367-EC96FC60A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4500" y="1718699"/>
            <a:ext cx="3864600" cy="3088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altLang="zh-TW" dirty="0">
                <a:solidFill>
                  <a:schemeClr val="bg2"/>
                </a:solidFill>
              </a:rPr>
              <a:t>DAY1 </a:t>
            </a:r>
          </a:p>
          <a:p>
            <a:pPr marL="114300" lvl="0" indent="0">
              <a:buClr>
                <a:schemeClr val="dk1"/>
              </a:buClr>
              <a:buNone/>
            </a:pPr>
            <a:r>
              <a:rPr lang="zh-TW" altLang="en-US" dirty="0">
                <a:solidFill>
                  <a:schemeClr val="bg2"/>
                </a:solidFill>
              </a:rPr>
              <a:t>機器視覺基礎與</a:t>
            </a:r>
            <a:r>
              <a:rPr lang="en-US" altLang="zh-TW" dirty="0">
                <a:solidFill>
                  <a:schemeClr val="bg2"/>
                </a:solidFill>
              </a:rPr>
              <a:t>Python</a:t>
            </a:r>
            <a:r>
              <a:rPr lang="zh-TW" altLang="en-US" dirty="0">
                <a:solidFill>
                  <a:schemeClr val="bg2"/>
                </a:solidFill>
              </a:rPr>
              <a:t>程式入門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altLang="zh-TW" dirty="0">
                <a:solidFill>
                  <a:schemeClr val="bg2"/>
                </a:solidFill>
              </a:rPr>
              <a:t>DAY2</a:t>
            </a:r>
          </a:p>
          <a:p>
            <a:pPr marL="114300" lvl="0" indent="0">
              <a:buClr>
                <a:schemeClr val="dk1"/>
              </a:buClr>
              <a:buNone/>
            </a:pPr>
            <a:r>
              <a:rPr lang="zh-TW" altLang="en-US" dirty="0">
                <a:solidFill>
                  <a:schemeClr val="bg2"/>
                </a:solidFill>
              </a:rPr>
              <a:t>深度學習</a:t>
            </a:r>
            <a:r>
              <a:rPr lang="en-US" altLang="zh-TW" dirty="0">
                <a:solidFill>
                  <a:schemeClr val="bg2"/>
                </a:solidFill>
              </a:rPr>
              <a:t>[</a:t>
            </a:r>
            <a:r>
              <a:rPr lang="zh-TW" altLang="en-US" dirty="0">
                <a:solidFill>
                  <a:schemeClr val="bg2"/>
                </a:solidFill>
              </a:rPr>
              <a:t>視覺辨識</a:t>
            </a:r>
            <a:r>
              <a:rPr lang="en-US" altLang="zh-TW" dirty="0">
                <a:solidFill>
                  <a:schemeClr val="bg2"/>
                </a:solidFill>
              </a:rPr>
              <a:t>]</a:t>
            </a:r>
            <a:r>
              <a:rPr lang="zh-TW" altLang="en-US" dirty="0">
                <a:solidFill>
                  <a:schemeClr val="bg2"/>
                </a:solidFill>
              </a:rPr>
              <a:t>應用方法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altLang="zh-TW" dirty="0">
                <a:solidFill>
                  <a:schemeClr val="tx1"/>
                </a:solidFill>
              </a:rPr>
              <a:t>DAY3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zh-TW" dirty="0">
                <a:solidFill>
                  <a:schemeClr val="tx1"/>
                </a:solidFill>
              </a:rPr>
              <a:t>YOLO</a:t>
            </a:r>
            <a:r>
              <a:rPr lang="zh-TW" altLang="en-US" dirty="0">
                <a:solidFill>
                  <a:schemeClr val="tx1"/>
                </a:solidFill>
              </a:rPr>
              <a:t>模型應用與分類器的訓練與應用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lang="zh-TW" altLang="en-US" dirty="0">
              <a:solidFill>
                <a:schemeClr val="dk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E127C1-D3D3-E19B-6F16-C29AC42B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36" y="-242454"/>
            <a:ext cx="280205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500" y="1277267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Google Sans"/>
                <a:ea typeface="Google Sans"/>
                <a:cs typeface="Google Sans"/>
                <a:sym typeface="Google Sans"/>
              </a:rPr>
              <a:t>1.YOLO</a:t>
            </a:r>
            <a:r>
              <a:rPr lang="zh-TW" altLang="en-US" sz="2800" dirty="0">
                <a:latin typeface="Google Sans"/>
                <a:ea typeface="Google Sans"/>
                <a:cs typeface="Google Sans"/>
                <a:sym typeface="Google Sans"/>
              </a:rPr>
              <a:t>是什麼</a:t>
            </a:r>
            <a:r>
              <a:rPr lang="en-US" altLang="zh-TW" sz="2800" dirty="0">
                <a:latin typeface="Google Sans"/>
                <a:ea typeface="Google Sans"/>
                <a:cs typeface="Google Sans"/>
                <a:sym typeface="Google Sans"/>
              </a:rPr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Google Sans"/>
                <a:ea typeface="Google Sans"/>
                <a:cs typeface="Google Sans"/>
                <a:sym typeface="Google Sans"/>
              </a:rPr>
              <a:t>2.</a:t>
            </a:r>
            <a:r>
              <a:rPr lang="zh-TW" altLang="en-US" sz="2800" dirty="0">
                <a:latin typeface="Google Sans"/>
                <a:ea typeface="Google Sans"/>
                <a:cs typeface="Google Sans"/>
                <a:sym typeface="Google Sans"/>
              </a:rPr>
              <a:t>演進各版本之間的特點</a:t>
            </a:r>
            <a:endParaRPr lang="en-US" altLang="zh-TW" sz="2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dirty="0">
                <a:latin typeface="Google Sans"/>
                <a:ea typeface="Google Sans"/>
                <a:cs typeface="Google Sans"/>
                <a:sym typeface="Google Sans"/>
              </a:rPr>
              <a:t>3.</a:t>
            </a:r>
            <a:r>
              <a:rPr lang="zh-TW" altLang="en-US" sz="2800" dirty="0">
                <a:latin typeface="Google Sans"/>
                <a:ea typeface="Google Sans"/>
                <a:cs typeface="Google Sans"/>
                <a:sym typeface="Google Sans"/>
              </a:rPr>
              <a:t>訓練到部屬的關係</a:t>
            </a:r>
            <a:endParaRPr lang="en-US" altLang="zh-TW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altLang="zh-TW" dirty="0">
                <a:solidFill>
                  <a:schemeClr val="tx1"/>
                </a:solidFill>
              </a:rPr>
              <a:t>YOLO</a:t>
            </a:r>
            <a:r>
              <a:rPr lang="zh-TW" altLang="en-US" dirty="0">
                <a:solidFill>
                  <a:schemeClr val="tx1"/>
                </a:solidFill>
              </a:rPr>
              <a:t>模型應用與分類器的訓練與應用</a:t>
            </a:r>
          </a:p>
        </p:txBody>
      </p:sp>
    </p:spTree>
    <p:extLst>
      <p:ext uri="{BB962C8B-B14F-4D97-AF65-F5344CB8AC3E}">
        <p14:creationId xmlns:p14="http://schemas.microsoft.com/office/powerpoint/2010/main" val="234426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75733"/>
            <a:ext cx="8331834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TW" altLang="en-US" sz="2500" spc="70" dirty="0"/>
              <a:t>傳統演算法依賴人類定義的規則</a:t>
            </a:r>
            <a:endParaRPr sz="2500" dirty="0"/>
          </a:p>
        </p:txBody>
      </p:sp>
      <p:sp>
        <p:nvSpPr>
          <p:cNvPr id="3" name="object 3"/>
          <p:cNvSpPr/>
          <p:nvPr/>
        </p:nvSpPr>
        <p:spPr>
          <a:xfrm>
            <a:off x="3693125" y="2229300"/>
            <a:ext cx="1598295" cy="685165"/>
          </a:xfrm>
          <a:custGeom>
            <a:avLst/>
            <a:gdLst/>
            <a:ahLst/>
            <a:cxnLst/>
            <a:rect l="l" t="t" r="r" b="b"/>
            <a:pathLst>
              <a:path w="1598295" h="685164">
                <a:moveTo>
                  <a:pt x="1598099" y="0"/>
                </a:moveTo>
                <a:lnTo>
                  <a:pt x="0" y="0"/>
                </a:lnTo>
                <a:lnTo>
                  <a:pt x="0" y="684900"/>
                </a:lnTo>
                <a:lnTo>
                  <a:pt x="1598099" y="684900"/>
                </a:lnTo>
                <a:lnTo>
                  <a:pt x="159809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93124" y="2229299"/>
            <a:ext cx="1598295" cy="689932"/>
          </a:xfrm>
          <a:prstGeom prst="rect">
            <a:avLst/>
          </a:prstGeom>
          <a:ln w="9524">
            <a:solidFill>
              <a:srgbClr val="5E5D5D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259715" marR="250190" indent="-2540" algn="ctr">
              <a:lnSpc>
                <a:spcPts val="2030"/>
              </a:lnSpc>
              <a:spcBef>
                <a:spcPts val="680"/>
              </a:spcBef>
            </a:pPr>
            <a:r>
              <a:rPr lang="zh-TW" altLang="en-US" sz="1700" spc="35" dirty="0">
                <a:latin typeface="Tahoma"/>
                <a:cs typeface="Tahoma"/>
              </a:rPr>
              <a:t>傳統</a:t>
            </a:r>
            <a:endParaRPr lang="en-US" altLang="zh-TW" sz="1700" spc="35" dirty="0">
              <a:latin typeface="Tahoma"/>
              <a:cs typeface="Tahoma"/>
            </a:endParaRPr>
          </a:p>
          <a:p>
            <a:pPr marL="259715" marR="250190" indent="-2540" algn="ctr">
              <a:lnSpc>
                <a:spcPts val="2030"/>
              </a:lnSpc>
              <a:spcBef>
                <a:spcPts val="680"/>
              </a:spcBef>
            </a:pPr>
            <a:r>
              <a:rPr lang="zh-TW" altLang="en-US" sz="1700" spc="35" dirty="0">
                <a:latin typeface="Tahoma"/>
                <a:cs typeface="Tahoma"/>
              </a:rPr>
              <a:t>演算法</a:t>
            </a:r>
            <a:endParaRPr sz="170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76998" y="2492911"/>
            <a:ext cx="1038860" cy="41275"/>
            <a:chOff x="2376998" y="2492911"/>
            <a:chExt cx="1038860" cy="41275"/>
          </a:xfrm>
        </p:grpSpPr>
        <p:sp>
          <p:nvSpPr>
            <p:cNvPr id="6" name="object 6"/>
            <p:cNvSpPr/>
            <p:nvPr/>
          </p:nvSpPr>
          <p:spPr>
            <a:xfrm>
              <a:off x="2376998" y="2513407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450" y="0"/>
                  </a:lnTo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67449" y="249767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6"/>
                  </a:moveTo>
                  <a:lnTo>
                    <a:pt x="0" y="0"/>
                  </a:lnTo>
                  <a:lnTo>
                    <a:pt x="43224" y="15733"/>
                  </a:lnTo>
                  <a:lnTo>
                    <a:pt x="0" y="31466"/>
                  </a:lnTo>
                  <a:close/>
                </a:path>
              </a:pathLst>
            </a:custGeom>
            <a:solidFill>
              <a:srgbClr val="5E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67449" y="249767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6"/>
                  </a:moveTo>
                  <a:lnTo>
                    <a:pt x="43224" y="15733"/>
                  </a:lnTo>
                  <a:lnTo>
                    <a:pt x="0" y="0"/>
                  </a:lnTo>
                  <a:lnTo>
                    <a:pt x="0" y="31466"/>
                  </a:lnTo>
                  <a:close/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63934" y="2108360"/>
            <a:ext cx="47370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1400" dirty="0">
                <a:latin typeface="Tahoma"/>
                <a:cs typeface="Tahoma"/>
              </a:rPr>
              <a:t>規則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3131" y="2816986"/>
            <a:ext cx="4159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1400" spc="-20" dirty="0">
                <a:latin typeface="Tahoma"/>
                <a:cs typeface="Tahoma"/>
              </a:rPr>
              <a:t>數據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26815" y="2184584"/>
            <a:ext cx="7270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TW" altLang="en-US" sz="1400" spc="35" dirty="0">
                <a:latin typeface="Tahoma"/>
                <a:cs typeface="Tahoma"/>
              </a:rPr>
              <a:t>答案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76998" y="2640620"/>
            <a:ext cx="1038860" cy="41275"/>
            <a:chOff x="2376998" y="2640620"/>
            <a:chExt cx="1038860" cy="41275"/>
          </a:xfrm>
        </p:grpSpPr>
        <p:sp>
          <p:nvSpPr>
            <p:cNvPr id="13" name="object 13"/>
            <p:cNvSpPr/>
            <p:nvPr/>
          </p:nvSpPr>
          <p:spPr>
            <a:xfrm>
              <a:off x="2376998" y="2661115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450" y="0"/>
                  </a:lnTo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7449" y="264538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E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67449" y="264538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566474" y="2535354"/>
            <a:ext cx="1038860" cy="41275"/>
            <a:chOff x="5566474" y="2535354"/>
            <a:chExt cx="1038860" cy="41275"/>
          </a:xfrm>
        </p:grpSpPr>
        <p:sp>
          <p:nvSpPr>
            <p:cNvPr id="17" name="object 17"/>
            <p:cNvSpPr/>
            <p:nvPr/>
          </p:nvSpPr>
          <p:spPr>
            <a:xfrm>
              <a:off x="5566474" y="2555849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449" y="0"/>
                  </a:lnTo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56924" y="25401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E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56924" y="254011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884431" y="2331754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240000" y="0"/>
                </a:moveTo>
                <a:lnTo>
                  <a:pt x="191631" y="4875"/>
                </a:lnTo>
                <a:lnTo>
                  <a:pt x="146581" y="18860"/>
                </a:lnTo>
                <a:lnTo>
                  <a:pt x="105813" y="40988"/>
                </a:lnTo>
                <a:lnTo>
                  <a:pt x="70294" y="70294"/>
                </a:lnTo>
                <a:lnTo>
                  <a:pt x="40988" y="105814"/>
                </a:lnTo>
                <a:lnTo>
                  <a:pt x="18860" y="146581"/>
                </a:lnTo>
                <a:lnTo>
                  <a:pt x="4875" y="191632"/>
                </a:lnTo>
                <a:lnTo>
                  <a:pt x="0" y="240000"/>
                </a:lnTo>
                <a:lnTo>
                  <a:pt x="4875" y="288369"/>
                </a:lnTo>
                <a:lnTo>
                  <a:pt x="18860" y="333419"/>
                </a:lnTo>
                <a:lnTo>
                  <a:pt x="40988" y="374187"/>
                </a:lnTo>
                <a:lnTo>
                  <a:pt x="70294" y="409706"/>
                </a:lnTo>
                <a:lnTo>
                  <a:pt x="105813" y="439012"/>
                </a:lnTo>
                <a:lnTo>
                  <a:pt x="146581" y="461140"/>
                </a:lnTo>
                <a:lnTo>
                  <a:pt x="191631" y="475124"/>
                </a:lnTo>
                <a:lnTo>
                  <a:pt x="240000" y="480000"/>
                </a:lnTo>
                <a:lnTo>
                  <a:pt x="288368" y="475124"/>
                </a:lnTo>
                <a:lnTo>
                  <a:pt x="333418" y="461140"/>
                </a:lnTo>
                <a:lnTo>
                  <a:pt x="374186" y="439012"/>
                </a:lnTo>
                <a:lnTo>
                  <a:pt x="409705" y="409706"/>
                </a:lnTo>
                <a:lnTo>
                  <a:pt x="439012" y="374187"/>
                </a:lnTo>
                <a:lnTo>
                  <a:pt x="461139" y="333419"/>
                </a:lnTo>
                <a:lnTo>
                  <a:pt x="475124" y="288369"/>
                </a:lnTo>
                <a:lnTo>
                  <a:pt x="480000" y="240000"/>
                </a:lnTo>
                <a:lnTo>
                  <a:pt x="475346" y="192960"/>
                </a:lnTo>
                <a:lnTo>
                  <a:pt x="461731" y="148156"/>
                </a:lnTo>
                <a:lnTo>
                  <a:pt x="439677" y="106848"/>
                </a:lnTo>
                <a:lnTo>
                  <a:pt x="409706" y="70294"/>
                </a:lnTo>
                <a:lnTo>
                  <a:pt x="373152" y="40322"/>
                </a:lnTo>
                <a:lnTo>
                  <a:pt x="331844" y="18268"/>
                </a:lnTo>
                <a:lnTo>
                  <a:pt x="287040" y="4654"/>
                </a:lnTo>
                <a:lnTo>
                  <a:pt x="240000" y="0"/>
                </a:lnTo>
                <a:close/>
              </a:path>
            </a:pathLst>
          </a:custGeom>
          <a:solidFill>
            <a:srgbClr val="CB5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18226" y="2396494"/>
            <a:ext cx="170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TW" altLang="en-US" spc="125" dirty="0"/>
              <a:t>機器學習演算法從資料中提取規則</a:t>
            </a:r>
            <a:endParaRPr spc="70" dirty="0"/>
          </a:p>
        </p:txBody>
      </p:sp>
      <p:sp>
        <p:nvSpPr>
          <p:cNvPr id="3" name="object 3"/>
          <p:cNvSpPr/>
          <p:nvPr/>
        </p:nvSpPr>
        <p:spPr>
          <a:xfrm>
            <a:off x="3693125" y="1761050"/>
            <a:ext cx="1598295" cy="685165"/>
          </a:xfrm>
          <a:custGeom>
            <a:avLst/>
            <a:gdLst/>
            <a:ahLst/>
            <a:cxnLst/>
            <a:rect l="l" t="t" r="r" b="b"/>
            <a:pathLst>
              <a:path w="1598295" h="685164">
                <a:moveTo>
                  <a:pt x="1598099" y="0"/>
                </a:moveTo>
                <a:lnTo>
                  <a:pt x="0" y="0"/>
                </a:lnTo>
                <a:lnTo>
                  <a:pt x="0" y="684900"/>
                </a:lnTo>
                <a:lnTo>
                  <a:pt x="1598099" y="684900"/>
                </a:lnTo>
                <a:lnTo>
                  <a:pt x="159809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93124" y="1761050"/>
            <a:ext cx="1598295" cy="689932"/>
          </a:xfrm>
          <a:prstGeom prst="rect">
            <a:avLst/>
          </a:prstGeom>
          <a:ln w="9524">
            <a:solidFill>
              <a:srgbClr val="5E5D5D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387985" marR="361950" indent="-18415" algn="ctr">
              <a:lnSpc>
                <a:spcPts val="2030"/>
              </a:lnSpc>
              <a:spcBef>
                <a:spcPts val="680"/>
              </a:spcBef>
            </a:pPr>
            <a:r>
              <a:rPr lang="zh-TW" altLang="en-US" sz="1700" spc="60" dirty="0">
                <a:latin typeface="Tahoma"/>
                <a:cs typeface="Tahoma"/>
              </a:rPr>
              <a:t>機器</a:t>
            </a:r>
            <a:endParaRPr lang="en-US" altLang="zh-TW" sz="1700" spc="60" dirty="0">
              <a:latin typeface="Tahoma"/>
              <a:cs typeface="Tahoma"/>
            </a:endParaRPr>
          </a:p>
          <a:p>
            <a:pPr marL="387985" marR="361950" indent="-18415" algn="ctr">
              <a:lnSpc>
                <a:spcPts val="2030"/>
              </a:lnSpc>
              <a:spcBef>
                <a:spcPts val="680"/>
              </a:spcBef>
            </a:pPr>
            <a:r>
              <a:rPr lang="zh-TW" altLang="en-US" sz="1700" spc="60" dirty="0">
                <a:latin typeface="Tahoma"/>
                <a:cs typeface="Tahoma"/>
              </a:rPr>
              <a:t>學習</a:t>
            </a:r>
            <a:endParaRPr sz="1700" dirty="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76998" y="2040560"/>
            <a:ext cx="1038860" cy="41275"/>
            <a:chOff x="2376998" y="2040560"/>
            <a:chExt cx="1038860" cy="41275"/>
          </a:xfrm>
        </p:grpSpPr>
        <p:sp>
          <p:nvSpPr>
            <p:cNvPr id="6" name="object 6"/>
            <p:cNvSpPr/>
            <p:nvPr/>
          </p:nvSpPr>
          <p:spPr>
            <a:xfrm>
              <a:off x="2376998" y="2061056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450" y="0"/>
                  </a:lnTo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67449" y="204532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E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67449" y="204532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37340" y="1656010"/>
            <a:ext cx="7270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TW" altLang="en-US" sz="1400" spc="35" dirty="0">
                <a:latin typeface="Tahoma"/>
                <a:cs typeface="Tahoma"/>
              </a:rPr>
              <a:t>答案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3131" y="2364636"/>
            <a:ext cx="4159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1400" spc="-20" dirty="0">
                <a:latin typeface="Tahoma"/>
                <a:cs typeface="Tahoma"/>
              </a:rPr>
              <a:t>數據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3410" y="1732234"/>
            <a:ext cx="47370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TW" altLang="en-US" sz="1400" spc="-10" dirty="0">
                <a:latin typeface="Tahoma"/>
                <a:cs typeface="Tahoma"/>
              </a:rPr>
              <a:t>規則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76998" y="2188269"/>
            <a:ext cx="1038860" cy="41275"/>
            <a:chOff x="2376998" y="2188269"/>
            <a:chExt cx="1038860" cy="41275"/>
          </a:xfrm>
        </p:grpSpPr>
        <p:sp>
          <p:nvSpPr>
            <p:cNvPr id="13" name="object 13"/>
            <p:cNvSpPr/>
            <p:nvPr/>
          </p:nvSpPr>
          <p:spPr>
            <a:xfrm>
              <a:off x="2376998" y="2208764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450" y="0"/>
                  </a:lnTo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7449" y="219303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E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67449" y="219303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566474" y="2083004"/>
            <a:ext cx="1038860" cy="41275"/>
            <a:chOff x="5566474" y="2083004"/>
            <a:chExt cx="1038860" cy="41275"/>
          </a:xfrm>
        </p:grpSpPr>
        <p:sp>
          <p:nvSpPr>
            <p:cNvPr id="17" name="object 17"/>
            <p:cNvSpPr/>
            <p:nvPr/>
          </p:nvSpPr>
          <p:spPr>
            <a:xfrm>
              <a:off x="5566474" y="21035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449" y="0"/>
                  </a:lnTo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56924" y="20877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E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556924" y="20877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884431" y="2365705"/>
            <a:ext cx="480059" cy="480059"/>
          </a:xfrm>
          <a:custGeom>
            <a:avLst/>
            <a:gdLst/>
            <a:ahLst/>
            <a:cxnLst/>
            <a:rect l="l" t="t" r="r" b="b"/>
            <a:pathLst>
              <a:path w="480059" h="480060">
                <a:moveTo>
                  <a:pt x="240000" y="0"/>
                </a:moveTo>
                <a:lnTo>
                  <a:pt x="191631" y="4875"/>
                </a:lnTo>
                <a:lnTo>
                  <a:pt x="146581" y="18860"/>
                </a:lnTo>
                <a:lnTo>
                  <a:pt x="105813" y="40988"/>
                </a:lnTo>
                <a:lnTo>
                  <a:pt x="70293" y="70294"/>
                </a:lnTo>
                <a:lnTo>
                  <a:pt x="40988" y="105813"/>
                </a:lnTo>
                <a:lnTo>
                  <a:pt x="18860" y="146580"/>
                </a:lnTo>
                <a:lnTo>
                  <a:pt x="4875" y="191631"/>
                </a:lnTo>
                <a:lnTo>
                  <a:pt x="0" y="239999"/>
                </a:lnTo>
                <a:lnTo>
                  <a:pt x="4875" y="288367"/>
                </a:lnTo>
                <a:lnTo>
                  <a:pt x="18860" y="333418"/>
                </a:lnTo>
                <a:lnTo>
                  <a:pt x="40988" y="374185"/>
                </a:lnTo>
                <a:lnTo>
                  <a:pt x="70294" y="409705"/>
                </a:lnTo>
                <a:lnTo>
                  <a:pt x="105813" y="439011"/>
                </a:lnTo>
                <a:lnTo>
                  <a:pt x="146581" y="461138"/>
                </a:lnTo>
                <a:lnTo>
                  <a:pt x="191631" y="475123"/>
                </a:lnTo>
                <a:lnTo>
                  <a:pt x="240000" y="479999"/>
                </a:lnTo>
                <a:lnTo>
                  <a:pt x="288368" y="475123"/>
                </a:lnTo>
                <a:lnTo>
                  <a:pt x="333418" y="461138"/>
                </a:lnTo>
                <a:lnTo>
                  <a:pt x="374186" y="439011"/>
                </a:lnTo>
                <a:lnTo>
                  <a:pt x="409705" y="409705"/>
                </a:lnTo>
                <a:lnTo>
                  <a:pt x="439012" y="374185"/>
                </a:lnTo>
                <a:lnTo>
                  <a:pt x="461139" y="333418"/>
                </a:lnTo>
                <a:lnTo>
                  <a:pt x="475124" y="288367"/>
                </a:lnTo>
                <a:lnTo>
                  <a:pt x="480000" y="239999"/>
                </a:lnTo>
                <a:lnTo>
                  <a:pt x="475346" y="192958"/>
                </a:lnTo>
                <a:lnTo>
                  <a:pt x="461731" y="148155"/>
                </a:lnTo>
                <a:lnTo>
                  <a:pt x="439677" y="106847"/>
                </a:lnTo>
                <a:lnTo>
                  <a:pt x="409705" y="70294"/>
                </a:lnTo>
                <a:lnTo>
                  <a:pt x="373152" y="40322"/>
                </a:lnTo>
                <a:lnTo>
                  <a:pt x="331844" y="18268"/>
                </a:lnTo>
                <a:lnTo>
                  <a:pt x="287040" y="4654"/>
                </a:lnTo>
                <a:lnTo>
                  <a:pt x="240000" y="0"/>
                </a:lnTo>
                <a:close/>
              </a:path>
            </a:pathLst>
          </a:custGeom>
          <a:solidFill>
            <a:srgbClr val="CB5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18226" y="2430445"/>
            <a:ext cx="170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93125" y="3589549"/>
            <a:ext cx="1598295" cy="935507"/>
          </a:xfrm>
          <a:custGeom>
            <a:avLst/>
            <a:gdLst/>
            <a:ahLst/>
            <a:cxnLst/>
            <a:rect l="l" t="t" r="r" b="b"/>
            <a:pathLst>
              <a:path w="1598295" h="685164">
                <a:moveTo>
                  <a:pt x="1598099" y="0"/>
                </a:moveTo>
                <a:lnTo>
                  <a:pt x="0" y="0"/>
                </a:lnTo>
                <a:lnTo>
                  <a:pt x="0" y="684900"/>
                </a:lnTo>
                <a:lnTo>
                  <a:pt x="1598099" y="684900"/>
                </a:lnTo>
                <a:lnTo>
                  <a:pt x="159809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93124" y="3589549"/>
            <a:ext cx="1598295" cy="935512"/>
          </a:xfrm>
          <a:prstGeom prst="rect">
            <a:avLst/>
          </a:prstGeom>
          <a:ln w="9524">
            <a:solidFill>
              <a:srgbClr val="5E5D5D"/>
            </a:solidFill>
          </a:ln>
        </p:spPr>
        <p:txBody>
          <a:bodyPr vert="horz" wrap="square" lIns="0" tIns="205104" rIns="0" bIns="0" rtlCol="0">
            <a:spAutoFit/>
          </a:bodyPr>
          <a:lstStyle/>
          <a:p>
            <a:pPr marL="526415">
              <a:lnSpc>
                <a:spcPct val="100000"/>
              </a:lnSpc>
              <a:spcBef>
                <a:spcPts val="1614"/>
              </a:spcBef>
            </a:pPr>
            <a:r>
              <a:rPr lang="zh-TW" altLang="en-US" sz="1700" spc="-10" dirty="0">
                <a:latin typeface="Tahoma"/>
                <a:cs typeface="Tahoma"/>
              </a:rPr>
              <a:t>規則</a:t>
            </a:r>
            <a:endParaRPr lang="en-US" altLang="zh-TW" sz="1700" spc="-10" dirty="0">
              <a:latin typeface="Tahoma"/>
              <a:cs typeface="Tahoma"/>
            </a:endParaRPr>
          </a:p>
          <a:p>
            <a:pPr marL="526415">
              <a:lnSpc>
                <a:spcPct val="100000"/>
              </a:lnSpc>
              <a:spcBef>
                <a:spcPts val="1614"/>
              </a:spcBef>
            </a:pPr>
            <a:endParaRPr sz="1700" dirty="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3131" y="3560741"/>
            <a:ext cx="4159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1400" spc="-20" dirty="0">
                <a:latin typeface="Tahoma"/>
                <a:cs typeface="Tahoma"/>
              </a:rPr>
              <a:t>數據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14320" y="3560734"/>
            <a:ext cx="9525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1400" dirty="0">
                <a:latin typeface="Tahoma"/>
                <a:cs typeface="Tahoma"/>
              </a:rPr>
              <a:t>答案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376998" y="3911505"/>
            <a:ext cx="1038860" cy="41275"/>
            <a:chOff x="2376998" y="3911505"/>
            <a:chExt cx="1038860" cy="41275"/>
          </a:xfrm>
        </p:grpSpPr>
        <p:sp>
          <p:nvSpPr>
            <p:cNvPr id="27" name="object 27"/>
            <p:cNvSpPr/>
            <p:nvPr/>
          </p:nvSpPr>
          <p:spPr>
            <a:xfrm>
              <a:off x="2376998" y="39320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450" y="0"/>
                  </a:lnTo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67449" y="39162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E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67449" y="39162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566474" y="3911505"/>
            <a:ext cx="1038860" cy="41275"/>
            <a:chOff x="5566474" y="3911505"/>
            <a:chExt cx="1038860" cy="41275"/>
          </a:xfrm>
        </p:grpSpPr>
        <p:sp>
          <p:nvSpPr>
            <p:cNvPr id="31" name="object 31"/>
            <p:cNvSpPr/>
            <p:nvPr/>
          </p:nvSpPr>
          <p:spPr>
            <a:xfrm>
              <a:off x="5566474" y="3932000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449" y="0"/>
                  </a:lnTo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56924" y="39162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E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56924" y="39162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E5D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6979175" y="1195500"/>
            <a:ext cx="1346835" cy="266065"/>
          </a:xfrm>
          <a:custGeom>
            <a:avLst/>
            <a:gdLst/>
            <a:ahLst/>
            <a:cxnLst/>
            <a:rect l="l" t="t" r="r" b="b"/>
            <a:pathLst>
              <a:path w="1346834" h="266065">
                <a:moveTo>
                  <a:pt x="1346400" y="0"/>
                </a:moveTo>
                <a:lnTo>
                  <a:pt x="0" y="0"/>
                </a:lnTo>
                <a:lnTo>
                  <a:pt x="0" y="265499"/>
                </a:lnTo>
                <a:lnTo>
                  <a:pt x="1346400" y="265499"/>
                </a:lnTo>
                <a:lnTo>
                  <a:pt x="1346400" y="0"/>
                </a:lnTo>
                <a:close/>
              </a:path>
            </a:pathLst>
          </a:custGeom>
          <a:solidFill>
            <a:srgbClr val="CB5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115465" y="1218967"/>
            <a:ext cx="1073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>
                <a:solidFill>
                  <a:srgbClr val="FFFFFF"/>
                </a:solidFill>
                <a:latin typeface="Tahoma"/>
                <a:cs typeface="Tahoma"/>
              </a:rPr>
              <a:t>Training</a:t>
            </a:r>
            <a:r>
              <a:rPr sz="1200" spc="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979175" y="3179824"/>
            <a:ext cx="1346835" cy="266065"/>
          </a:xfrm>
          <a:custGeom>
            <a:avLst/>
            <a:gdLst/>
            <a:ahLst/>
            <a:cxnLst/>
            <a:rect l="l" t="t" r="r" b="b"/>
            <a:pathLst>
              <a:path w="1346834" h="266064">
                <a:moveTo>
                  <a:pt x="1346400" y="0"/>
                </a:moveTo>
                <a:lnTo>
                  <a:pt x="0" y="0"/>
                </a:lnTo>
                <a:lnTo>
                  <a:pt x="0" y="265499"/>
                </a:lnTo>
                <a:lnTo>
                  <a:pt x="1346400" y="265499"/>
                </a:lnTo>
                <a:lnTo>
                  <a:pt x="1346400" y="0"/>
                </a:lnTo>
                <a:close/>
              </a:path>
            </a:pathLst>
          </a:custGeom>
          <a:solidFill>
            <a:srgbClr val="CB50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068696" y="3203291"/>
            <a:ext cx="1167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Inference</a:t>
            </a:r>
            <a:r>
              <a:rPr sz="12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phase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572474" y="2897224"/>
            <a:ext cx="6936105" cy="0"/>
          </a:xfrm>
          <a:custGeom>
            <a:avLst/>
            <a:gdLst/>
            <a:ahLst/>
            <a:cxnLst/>
            <a:rect l="l" t="t" r="r" b="b"/>
            <a:pathLst>
              <a:path w="6936105">
                <a:moveTo>
                  <a:pt x="0" y="0"/>
                </a:moveTo>
                <a:lnTo>
                  <a:pt x="6935999" y="0"/>
                </a:lnTo>
              </a:path>
            </a:pathLst>
          </a:custGeom>
          <a:ln w="9524">
            <a:solidFill>
              <a:srgbClr val="5E5D5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500" y="1246909"/>
            <a:ext cx="8339103" cy="3720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sz="1600" b="1" dirty="0"/>
              <a:t>核心概念單次前向傳播完成物體檢測 </a:t>
            </a:r>
            <a:r>
              <a:rPr lang="en-US" altLang="zh-TW" sz="1600" b="1" dirty="0"/>
              <a:t>- </a:t>
            </a:r>
            <a:r>
              <a:rPr lang="zh-TW" altLang="en-US" sz="1600" b="1" dirty="0"/>
              <a:t>將檢測問題轉換為回歸問題技術特點統一架構</a:t>
            </a:r>
            <a:r>
              <a:rPr lang="en-US" altLang="zh-TW" sz="1600" b="1" dirty="0"/>
              <a:t>: </a:t>
            </a:r>
            <a:r>
              <a:rPr lang="zh-TW" altLang="en-US" sz="1600" b="1" dirty="0"/>
              <a:t>整張圖像輸入 → 直接輸出邊界框與類別即時性能</a:t>
            </a:r>
            <a:r>
              <a:rPr lang="en-US" altLang="zh-TW" sz="1600" b="1" dirty="0"/>
              <a:t>: </a:t>
            </a:r>
            <a:r>
              <a:rPr lang="zh-TW" altLang="en-US" sz="1600" b="1" dirty="0"/>
              <a:t>檢測速度達 </a:t>
            </a:r>
            <a:r>
              <a:rPr lang="en-US" altLang="zh-TW" sz="1600" b="1" dirty="0"/>
              <a:t>30-155 FPS</a:t>
            </a:r>
            <a:r>
              <a:rPr lang="zh-TW" altLang="en-US" sz="1600" b="1" dirty="0"/>
              <a:t>全局理解</a:t>
            </a:r>
            <a:r>
              <a:rPr lang="en-US" altLang="zh-TW" sz="1600" b="1" dirty="0"/>
              <a:t>: </a:t>
            </a:r>
            <a:r>
              <a:rPr lang="zh-TW" altLang="en-US" sz="1600" b="1" dirty="0"/>
              <a:t>考慮整張圖像上下文，減少背景誤檢</a:t>
            </a:r>
            <a:endParaRPr lang="en-US" altLang="zh-TW" sz="1600" b="1" dirty="0"/>
          </a:p>
          <a:p>
            <a:endParaRPr lang="en-US" altLang="zh-TW" sz="1600" b="1" dirty="0"/>
          </a:p>
          <a:p>
            <a:r>
              <a:rPr lang="zh-TW" altLang="en-US" sz="2000" b="1" dirty="0"/>
              <a:t>實際應用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000" b="1" dirty="0"/>
              <a:t>工業檢測</a:t>
            </a:r>
            <a:r>
              <a:rPr lang="en-US" altLang="zh-TW" sz="2000" dirty="0"/>
              <a:t>: </a:t>
            </a:r>
            <a:r>
              <a:rPr lang="zh-TW" altLang="en-US" sz="2000" dirty="0"/>
              <a:t>瑕疵檢測、品質控管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000" b="1" dirty="0"/>
              <a:t>智慧監控</a:t>
            </a:r>
            <a:r>
              <a:rPr lang="en-US" altLang="zh-TW" sz="2000" dirty="0"/>
              <a:t>: </a:t>
            </a:r>
            <a:r>
              <a:rPr lang="zh-TW" altLang="en-US" sz="2000" dirty="0"/>
              <a:t>人流計數、行為分析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000" b="1" dirty="0"/>
              <a:t>自動駕駛</a:t>
            </a:r>
            <a:r>
              <a:rPr lang="en-US" altLang="zh-TW" sz="2000" dirty="0"/>
              <a:t>: </a:t>
            </a:r>
            <a:r>
              <a:rPr lang="zh-TW" altLang="en-US" sz="2000" dirty="0"/>
              <a:t>車輛</a:t>
            </a:r>
            <a:r>
              <a:rPr lang="en-US" altLang="zh-TW" sz="2000" dirty="0"/>
              <a:t>/</a:t>
            </a:r>
            <a:r>
              <a:rPr lang="zh-TW" altLang="en-US" sz="2000" dirty="0"/>
              <a:t>行人檢測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000" b="1" dirty="0"/>
              <a:t>零售分析</a:t>
            </a:r>
            <a:r>
              <a:rPr lang="en-US" altLang="zh-TW" sz="2000" dirty="0"/>
              <a:t>: </a:t>
            </a:r>
            <a:r>
              <a:rPr lang="zh-TW" altLang="en-US" sz="2000" dirty="0"/>
              <a:t>貨架管理、客戶行為</a:t>
            </a:r>
          </a:p>
          <a:p>
            <a:r>
              <a:rPr lang="zh-TW" altLang="en-US" sz="2000" b="1" dirty="0"/>
              <a:t>優勢</a:t>
            </a:r>
          </a:p>
          <a:p>
            <a:r>
              <a:rPr lang="zh-TW" altLang="en-US" sz="2000" dirty="0"/>
              <a:t>✓ 部署簡單 </a:t>
            </a:r>
            <a:r>
              <a:rPr lang="en-US" altLang="zh-TW" sz="2000" dirty="0"/>
              <a:t>- </a:t>
            </a:r>
            <a:r>
              <a:rPr lang="zh-TW" altLang="en-US" sz="2000" dirty="0"/>
              <a:t>支援各種硬體平台 ✓ 速度精度平衡 </a:t>
            </a:r>
            <a:r>
              <a:rPr lang="en-US" altLang="zh-TW" sz="2000" dirty="0"/>
              <a:t>- </a:t>
            </a:r>
            <a:r>
              <a:rPr lang="zh-TW" altLang="en-US" sz="2000" dirty="0"/>
              <a:t>多種模型規格可選 ✓ 持續更新 </a:t>
            </a:r>
            <a:r>
              <a:rPr lang="en-US" altLang="zh-TW" sz="2000" dirty="0"/>
              <a:t>- </a:t>
            </a:r>
            <a:r>
              <a:rPr lang="zh-TW" altLang="en-US" sz="2000" dirty="0"/>
              <a:t>活躍的開源社群</a:t>
            </a:r>
          </a:p>
          <a:p>
            <a:endParaRPr lang="zh-TW" altLang="en-US" sz="1600" dirty="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0" y="603900"/>
            <a:ext cx="8108904" cy="538500"/>
          </a:xfrm>
        </p:spPr>
        <p:txBody>
          <a:bodyPr/>
          <a:lstStyle/>
          <a:p>
            <a:r>
              <a:rPr lang="en-US" altLang="zh-TW" dirty="0"/>
              <a:t>YOLO (You Only Look Once)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247031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500" y="1955074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TW" sz="1600" b="1" dirty="0"/>
              <a:t>YOLO v1</a:t>
            </a:r>
            <a:r>
              <a:rPr lang="zh-TW" altLang="en-US" sz="1600" dirty="0"/>
              <a:t> </a:t>
            </a:r>
            <a:r>
              <a:rPr lang="en-US" altLang="zh-TW" sz="1600" dirty="0"/>
              <a:t>- 2015</a:t>
            </a:r>
            <a:r>
              <a:rPr lang="zh-TW" altLang="en-US" sz="1600" dirty="0"/>
              <a:t>年</a:t>
            </a:r>
            <a:r>
              <a:rPr lang="en-US" altLang="zh-TW" sz="1600" dirty="0"/>
              <a:t>6</a:t>
            </a:r>
            <a:r>
              <a:rPr lang="zh-TW" altLang="en-US" sz="1600" dirty="0"/>
              <a:t>月</a:t>
            </a:r>
            <a:r>
              <a:rPr lang="en-US" altLang="zh-TW" sz="1600" dirty="0"/>
              <a:t>8</a:t>
            </a:r>
            <a:r>
              <a:rPr lang="zh-TW" altLang="en-US" sz="1600" dirty="0"/>
              <a:t>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/>
              <a:t>作者：</a:t>
            </a:r>
            <a:r>
              <a:rPr lang="en-US" altLang="zh-TW" sz="1600" dirty="0"/>
              <a:t>Joseph Redmon</a:t>
            </a:r>
            <a:r>
              <a:rPr lang="zh-TW" altLang="en-US" sz="1600" dirty="0"/>
              <a:t>等人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/>
              <a:t>首個統一式端到端目標檢測器，開創性提出單階段檢測架構 </a:t>
            </a:r>
            <a:r>
              <a:rPr lang="en-US" altLang="zh-TW" sz="1600" dirty="0" err="1">
                <a:hlinkClick r:id="rId3"/>
              </a:rPr>
              <a:t>Roboflow</a:t>
            </a:r>
            <a:endParaRPr lang="zh-TW" altLang="en-US" sz="1600" dirty="0"/>
          </a:p>
          <a:p>
            <a:r>
              <a:rPr lang="en-US" altLang="zh-TW" sz="1600" b="1" dirty="0"/>
              <a:t>YOLOv2/YOLO9000</a:t>
            </a:r>
            <a:r>
              <a:rPr lang="zh-TW" altLang="en-US" sz="1600" dirty="0"/>
              <a:t> </a:t>
            </a:r>
            <a:r>
              <a:rPr lang="en-US" altLang="zh-TW" sz="1600" dirty="0"/>
              <a:t>- 2016</a:t>
            </a:r>
            <a:r>
              <a:rPr lang="zh-TW" altLang="en-US" sz="1600" dirty="0"/>
              <a:t>年</a:t>
            </a:r>
            <a:r>
              <a:rPr lang="en-US" altLang="zh-TW" sz="1600" dirty="0"/>
              <a:t>12</a:t>
            </a:r>
            <a:r>
              <a:rPr lang="zh-TW" altLang="en-US" sz="1600" dirty="0"/>
              <a:t>月</a:t>
            </a:r>
            <a:r>
              <a:rPr lang="en-US" altLang="zh-TW" sz="1600" dirty="0"/>
              <a:t>25</a:t>
            </a:r>
            <a:r>
              <a:rPr lang="zh-TW" altLang="en-US" sz="1600" dirty="0"/>
              <a:t>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/>
              <a:t>引入</a:t>
            </a:r>
            <a:r>
              <a:rPr lang="en-US" altLang="zh-TW" sz="1600" dirty="0"/>
              <a:t>Anchor Boxes</a:t>
            </a:r>
            <a:r>
              <a:rPr lang="zh-TW" altLang="en-US" sz="1600" dirty="0"/>
              <a:t>機制，支援</a:t>
            </a:r>
            <a:r>
              <a:rPr lang="en-US" altLang="zh-TW" sz="1600" dirty="0"/>
              <a:t>9000+</a:t>
            </a:r>
            <a:r>
              <a:rPr lang="zh-TW" altLang="en-US" sz="1600" dirty="0"/>
              <a:t>類別檢測 </a:t>
            </a:r>
            <a:r>
              <a:rPr lang="en-US" altLang="zh-TW" sz="1600" dirty="0" err="1">
                <a:hlinkClick r:id="rId4"/>
              </a:rPr>
              <a:t>arXiv</a:t>
            </a:r>
            <a:r>
              <a:rPr lang="en-US" altLang="zh-TW" sz="1600" dirty="0" err="1">
                <a:hlinkClick r:id="rId5"/>
              </a:rPr>
              <a:t>arXiv</a:t>
            </a:r>
            <a:endParaRPr lang="zh-TW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600" dirty="0"/>
              <a:t>Darknet-19</a:t>
            </a:r>
            <a:r>
              <a:rPr lang="zh-TW" altLang="en-US" sz="1600" dirty="0"/>
              <a:t>骨幹網路，批量標準化技術 </a:t>
            </a:r>
            <a:r>
              <a:rPr lang="en-US" altLang="zh-TW" sz="1600" dirty="0" err="1">
                <a:hlinkClick r:id="rId6"/>
              </a:rPr>
              <a:t>arXiv</a:t>
            </a:r>
            <a:endParaRPr lang="zh-TW" altLang="en-US" sz="1600" dirty="0"/>
          </a:p>
          <a:p>
            <a:r>
              <a:rPr lang="en-US" altLang="zh-TW" sz="1600" b="1" dirty="0"/>
              <a:t>YOLOv3</a:t>
            </a:r>
            <a:r>
              <a:rPr lang="zh-TW" altLang="en-US" sz="1600" dirty="0"/>
              <a:t> </a:t>
            </a:r>
            <a:r>
              <a:rPr lang="en-US" altLang="zh-TW" sz="1600" dirty="0"/>
              <a:t>- 2018</a:t>
            </a:r>
            <a:r>
              <a:rPr lang="zh-TW" altLang="en-US" sz="1600" dirty="0"/>
              <a:t>年</a:t>
            </a:r>
            <a:r>
              <a:rPr lang="en-US" altLang="zh-TW" sz="1600" dirty="0"/>
              <a:t>4</a:t>
            </a:r>
            <a:r>
              <a:rPr lang="zh-TW" altLang="en-US" sz="1600" dirty="0"/>
              <a:t>月</a:t>
            </a:r>
            <a:r>
              <a:rPr lang="en-US" altLang="zh-TW" sz="1600" dirty="0"/>
              <a:t>8</a:t>
            </a:r>
            <a:r>
              <a:rPr lang="zh-TW" altLang="en-US" sz="1600" dirty="0"/>
              <a:t>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600" dirty="0"/>
              <a:t>Darknet-53</a:t>
            </a:r>
            <a:r>
              <a:rPr lang="zh-TW" altLang="en-US" sz="1600" dirty="0"/>
              <a:t>骨幹網路，引入多尺度預測 </a:t>
            </a:r>
            <a:r>
              <a:rPr lang="en-US" altLang="zh-TW" sz="1600" dirty="0" err="1">
                <a:hlinkClick r:id="rId7"/>
              </a:rPr>
              <a:t>PyImageSearch</a:t>
            </a:r>
            <a:r>
              <a:rPr lang="en-US" altLang="zh-TW" sz="1600" dirty="0">
                <a:hlinkClick r:id="rId7"/>
              </a:rPr>
              <a:t> +2</a:t>
            </a:r>
            <a:endParaRPr lang="zh-TW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600" dirty="0"/>
              <a:t>特徵金字塔網路</a:t>
            </a:r>
            <a:r>
              <a:rPr lang="en-US" altLang="zh-TW" sz="1600" dirty="0"/>
              <a:t>(FPN)</a:t>
            </a:r>
            <a:r>
              <a:rPr lang="zh-TW" altLang="en-US" sz="1600" dirty="0"/>
              <a:t>概念整合</a:t>
            </a:r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0" y="603900"/>
            <a:ext cx="8108904" cy="538500"/>
          </a:xfrm>
        </p:spPr>
        <p:txBody>
          <a:bodyPr/>
          <a:lstStyle/>
          <a:p>
            <a:r>
              <a:rPr lang="en-US" altLang="zh-TW" b="1" dirty="0"/>
              <a:t>YOLO</a:t>
            </a:r>
            <a:r>
              <a:rPr lang="zh-TW" altLang="en-US" b="1" dirty="0"/>
              <a:t>演進時間軸與版本發布</a:t>
            </a:r>
            <a:br>
              <a:rPr lang="zh-TW" altLang="en-US" b="1" dirty="0"/>
            </a:br>
            <a:r>
              <a:rPr lang="zh-TW" altLang="en-US" b="1" dirty="0"/>
              <a:t>早期奠基版本 </a:t>
            </a:r>
            <a:r>
              <a:rPr lang="en-US" altLang="zh-TW" b="1" dirty="0"/>
              <a:t>(2015-2018)</a:t>
            </a:r>
          </a:p>
        </p:txBody>
      </p:sp>
    </p:spTree>
    <p:extLst>
      <p:ext uri="{BB962C8B-B14F-4D97-AF65-F5344CB8AC3E}">
        <p14:creationId xmlns:p14="http://schemas.microsoft.com/office/powerpoint/2010/main" val="480935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500" y="1469099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TW" sz="2000" b="1" dirty="0"/>
              <a:t>YOLOv4</a:t>
            </a:r>
            <a:r>
              <a:rPr lang="en-US" altLang="zh-TW" sz="2000" dirty="0"/>
              <a:t> - 2020</a:t>
            </a:r>
            <a:r>
              <a:rPr lang="zh-TW" altLang="en-US" sz="2000" dirty="0"/>
              <a:t>年</a:t>
            </a:r>
            <a:r>
              <a:rPr lang="en-US" altLang="zh-TW" sz="2000" dirty="0"/>
              <a:t>4</a:t>
            </a:r>
            <a:r>
              <a:rPr lang="zh-TW" altLang="en-US" sz="2000" dirty="0"/>
              <a:t>月</a:t>
            </a:r>
            <a:r>
              <a:rPr lang="en-US" altLang="zh-TW" sz="2000" dirty="0"/>
              <a:t>23</a:t>
            </a:r>
            <a:r>
              <a:rPr lang="zh-TW" altLang="en-US" sz="2000" dirty="0"/>
              <a:t>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000" dirty="0"/>
              <a:t>作者：</a:t>
            </a:r>
            <a:r>
              <a:rPr lang="en-US" altLang="zh-TW" sz="2000" dirty="0"/>
              <a:t>Alexey </a:t>
            </a:r>
            <a:r>
              <a:rPr lang="en-US" altLang="zh-TW" sz="2000" dirty="0" err="1"/>
              <a:t>Bochkovskiy</a:t>
            </a:r>
            <a:r>
              <a:rPr lang="zh-TW" altLang="en-US" sz="2000" dirty="0"/>
              <a:t>等人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000" dirty="0"/>
              <a:t>CSPDarknet53</a:t>
            </a:r>
            <a:r>
              <a:rPr lang="zh-TW" altLang="en-US" sz="2000" dirty="0"/>
              <a:t>骨幹，</a:t>
            </a:r>
            <a:r>
              <a:rPr lang="en-US" altLang="zh-TW" sz="2000" dirty="0"/>
              <a:t>Mish</a:t>
            </a:r>
            <a:r>
              <a:rPr lang="zh-TW" altLang="en-US" sz="2000" dirty="0"/>
              <a:t>激活函數，</a:t>
            </a:r>
            <a:r>
              <a:rPr lang="en-US" altLang="zh-TW" sz="2000" dirty="0"/>
              <a:t>Mosaic</a:t>
            </a:r>
            <a:r>
              <a:rPr lang="zh-TW" altLang="en-US" sz="2000" dirty="0"/>
              <a:t>數據增強 </a:t>
            </a:r>
            <a:r>
              <a:rPr lang="en-US" altLang="zh-TW" sz="2000" dirty="0">
                <a:hlinkClick r:id="rId3"/>
              </a:rPr>
              <a:t>Medium +4</a:t>
            </a:r>
            <a:endParaRPr lang="en-US" altLang="zh-TW" sz="2000" dirty="0"/>
          </a:p>
          <a:p>
            <a:r>
              <a:rPr lang="en-US" altLang="zh-TW" sz="2000" b="1" dirty="0"/>
              <a:t>YOLOv5</a:t>
            </a:r>
            <a:r>
              <a:rPr lang="en-US" altLang="zh-TW" sz="2000" dirty="0"/>
              <a:t> - 2020</a:t>
            </a:r>
            <a:r>
              <a:rPr lang="zh-TW" altLang="en-US" sz="2000" dirty="0"/>
              <a:t>年</a:t>
            </a:r>
            <a:r>
              <a:rPr lang="en-US" altLang="zh-TW" sz="2000" dirty="0"/>
              <a:t>6</a:t>
            </a:r>
            <a:r>
              <a:rPr lang="zh-TW" altLang="en-US" sz="2000" dirty="0"/>
              <a:t>月</a:t>
            </a:r>
            <a:r>
              <a:rPr lang="en-US" altLang="zh-TW" sz="2000" dirty="0"/>
              <a:t>9</a:t>
            </a:r>
            <a:r>
              <a:rPr lang="zh-TW" altLang="en-US" sz="2000" dirty="0"/>
              <a:t>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000" dirty="0"/>
              <a:t>開發團隊：</a:t>
            </a:r>
            <a:r>
              <a:rPr lang="en-US" altLang="zh-TW" sz="2000" dirty="0" err="1"/>
              <a:t>Ultralytics</a:t>
            </a:r>
            <a:r>
              <a:rPr lang="en-US" altLang="zh-TW" sz="2000" dirty="0"/>
              <a:t> (Glenn </a:t>
            </a:r>
            <a:r>
              <a:rPr lang="en-US" altLang="zh-TW" sz="2000" dirty="0" err="1"/>
              <a:t>Jocher</a:t>
            </a:r>
            <a:r>
              <a:rPr lang="en-US" altLang="zh-TW" sz="2000" dirty="0"/>
              <a:t>) </a:t>
            </a:r>
            <a:r>
              <a:rPr lang="en-US" altLang="zh-TW" sz="2000" dirty="0" err="1">
                <a:hlinkClick r:id="rId4"/>
              </a:rPr>
              <a:t>viso.ai</a:t>
            </a:r>
            <a:r>
              <a:rPr lang="en-US" altLang="zh-TW" sz="2000" dirty="0" err="1">
                <a:hlinkClick r:id="rId5"/>
              </a:rPr>
              <a:t>arXiv</a:t>
            </a:r>
            <a:endParaRPr lang="en-US" altLang="zh-TW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000" dirty="0" err="1"/>
              <a:t>PyTorch</a:t>
            </a:r>
            <a:r>
              <a:rPr lang="zh-TW" altLang="en-US" sz="2000" dirty="0"/>
              <a:t>實現，系統化模型縮放策略</a:t>
            </a:r>
            <a:r>
              <a:rPr lang="en-US" altLang="zh-TW" sz="2000" dirty="0"/>
              <a:t>(n/s/m/l/x</a:t>
            </a:r>
            <a:r>
              <a:rPr lang="zh-TW" altLang="en-US" sz="2000" dirty="0"/>
              <a:t>五種變體</a:t>
            </a:r>
            <a:r>
              <a:rPr lang="en-US" altLang="zh-TW" sz="2000" dirty="0"/>
              <a:t>) </a:t>
            </a:r>
            <a:r>
              <a:rPr lang="en-US" altLang="zh-TW" sz="2000" dirty="0" err="1">
                <a:hlinkClick r:id="rId6"/>
              </a:rPr>
              <a:t>Roboflow</a:t>
            </a:r>
            <a:r>
              <a:rPr lang="en-US" altLang="zh-TW" sz="2000" dirty="0" err="1">
                <a:hlinkClick r:id="rId7"/>
              </a:rPr>
              <a:t>Ultralytics</a:t>
            </a:r>
            <a:endParaRPr lang="en-US" altLang="zh-TW" sz="2000" dirty="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0" y="603900"/>
            <a:ext cx="8108904" cy="538500"/>
          </a:xfrm>
        </p:spPr>
        <p:txBody>
          <a:bodyPr/>
          <a:lstStyle/>
          <a:p>
            <a:r>
              <a:rPr lang="zh-TW" altLang="en-US" dirty="0"/>
              <a:t>現代架構轉型期 </a:t>
            </a:r>
            <a:r>
              <a:rPr lang="en-US" altLang="zh-TW" dirty="0"/>
              <a:t>(2020)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160186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500" y="1469099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TW" sz="1800" b="1" dirty="0"/>
              <a:t>YOLOv6</a:t>
            </a:r>
            <a:r>
              <a:rPr lang="en-US" altLang="zh-TW" sz="1800" dirty="0"/>
              <a:t> - 2022</a:t>
            </a:r>
            <a:r>
              <a:rPr lang="zh-TW" altLang="en-US" sz="1800" dirty="0"/>
              <a:t>年</a:t>
            </a:r>
            <a:r>
              <a:rPr lang="en-US" altLang="zh-TW" sz="1800" dirty="0"/>
              <a:t>6</a:t>
            </a:r>
            <a:r>
              <a:rPr lang="zh-TW" altLang="en-US" sz="1800" dirty="0"/>
              <a:t>月，</a:t>
            </a:r>
            <a:r>
              <a:rPr lang="en-US" altLang="zh-TW" sz="1800" dirty="0"/>
              <a:t>v3.0</a:t>
            </a:r>
            <a:r>
              <a:rPr lang="zh-TW" altLang="en-US" sz="1800" dirty="0"/>
              <a:t>於</a:t>
            </a:r>
            <a:r>
              <a:rPr lang="en-US" altLang="zh-TW" sz="1800" dirty="0"/>
              <a:t>2023</a:t>
            </a:r>
            <a:r>
              <a:rPr lang="zh-TW" altLang="en-US" sz="1800" dirty="0"/>
              <a:t>年</a:t>
            </a:r>
            <a:r>
              <a:rPr lang="en-US" altLang="zh-TW" sz="1800" dirty="0"/>
              <a:t>1</a:t>
            </a:r>
            <a:r>
              <a:rPr lang="zh-TW" altLang="en-US" sz="1800" dirty="0"/>
              <a:t>月</a:t>
            </a:r>
            <a:r>
              <a:rPr lang="en-US" altLang="zh-TW" sz="1800" dirty="0"/>
              <a:t>13</a:t>
            </a:r>
            <a:r>
              <a:rPr lang="zh-TW" altLang="en-US" sz="1800" dirty="0"/>
              <a:t>日 </a:t>
            </a:r>
            <a:r>
              <a:rPr lang="en-US" altLang="zh-TW" sz="1800" dirty="0" err="1">
                <a:hlinkClick r:id="rId3"/>
              </a:rPr>
              <a:t>Ultralytics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開發團隊：美團視覺智能部 </a:t>
            </a:r>
            <a:r>
              <a:rPr lang="en-US" altLang="zh-TW" sz="1800" dirty="0" err="1">
                <a:hlinkClick r:id="rId3"/>
              </a:rPr>
              <a:t>Ultralytics</a:t>
            </a:r>
            <a:r>
              <a:rPr lang="en-US" altLang="zh-TW" sz="1800" dirty="0">
                <a:hlinkClick r:id="rId3"/>
              </a:rPr>
              <a:t> +2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 err="1"/>
              <a:t>EfficientRep</a:t>
            </a:r>
            <a:r>
              <a:rPr lang="zh-TW" altLang="en-US" sz="1800" dirty="0"/>
              <a:t>骨幹，</a:t>
            </a:r>
            <a:r>
              <a:rPr lang="en-US" altLang="zh-TW" sz="1800" dirty="0"/>
              <a:t>Rep-PAN</a:t>
            </a:r>
            <a:r>
              <a:rPr lang="zh-TW" altLang="en-US" sz="1800" dirty="0"/>
              <a:t>頸部，解耦頭設計</a:t>
            </a:r>
          </a:p>
          <a:p>
            <a:r>
              <a:rPr lang="en-US" altLang="zh-TW" sz="1800" b="1" dirty="0"/>
              <a:t>YOLOv7</a:t>
            </a:r>
            <a:r>
              <a:rPr lang="en-US" altLang="zh-TW" sz="1800" dirty="0"/>
              <a:t> - 2022</a:t>
            </a:r>
            <a:r>
              <a:rPr lang="zh-TW" altLang="en-US" sz="1800" dirty="0"/>
              <a:t>年</a:t>
            </a:r>
            <a:r>
              <a:rPr lang="en-US" altLang="zh-TW" sz="1800" dirty="0"/>
              <a:t>7</a:t>
            </a:r>
            <a:r>
              <a:rPr lang="zh-TW" altLang="en-US" sz="1800" dirty="0"/>
              <a:t>月</a:t>
            </a:r>
            <a:r>
              <a:rPr lang="en-US" altLang="zh-TW" sz="1800" dirty="0"/>
              <a:t>6</a:t>
            </a:r>
            <a:r>
              <a:rPr lang="zh-TW" altLang="en-US" sz="1800" dirty="0"/>
              <a:t>日 </a:t>
            </a:r>
            <a:r>
              <a:rPr lang="en-US" altLang="zh-TW" sz="1800" dirty="0">
                <a:hlinkClick r:id="rId4"/>
              </a:rPr>
              <a:t>GitHub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作者：</a:t>
            </a:r>
            <a:r>
              <a:rPr lang="en-US" altLang="zh-TW" sz="1800" dirty="0" err="1"/>
              <a:t>Chien</a:t>
            </a:r>
            <a:r>
              <a:rPr lang="en-US" altLang="zh-TW" sz="1800" dirty="0"/>
              <a:t>-Yao Wang, Alexey </a:t>
            </a:r>
            <a:r>
              <a:rPr lang="en-US" altLang="zh-TW" sz="1800" dirty="0" err="1"/>
              <a:t>Bochkovskiy</a:t>
            </a:r>
            <a:r>
              <a:rPr lang="zh-TW" altLang="en-US" sz="1800" dirty="0"/>
              <a:t>等人 </a:t>
            </a:r>
            <a:r>
              <a:rPr lang="en-US" altLang="zh-TW" sz="1800" dirty="0" err="1">
                <a:hlinkClick r:id="rId5"/>
              </a:rPr>
              <a:t>Roboflow</a:t>
            </a:r>
            <a:r>
              <a:rPr lang="en-US" altLang="zh-TW" sz="1800" dirty="0" err="1">
                <a:hlinkClick r:id="rId6"/>
              </a:rPr>
              <a:t>github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E-ELAN</a:t>
            </a:r>
            <a:r>
              <a:rPr lang="zh-TW" altLang="en-US" sz="1800" dirty="0"/>
              <a:t>模組，複合模型縮放，可訓練的</a:t>
            </a:r>
            <a:r>
              <a:rPr lang="en-US" altLang="zh-TW" sz="1800" dirty="0"/>
              <a:t>bag-of-freebies </a:t>
            </a:r>
            <a:r>
              <a:rPr lang="en-US" altLang="zh-TW" sz="1800" dirty="0" err="1">
                <a:hlinkClick r:id="rId3"/>
              </a:rPr>
              <a:t>Ultralytics</a:t>
            </a:r>
            <a:r>
              <a:rPr lang="en-US" altLang="zh-TW" sz="1800" dirty="0">
                <a:hlinkClick r:id="rId3"/>
              </a:rPr>
              <a:t> +2</a:t>
            </a:r>
            <a:endParaRPr lang="en-US" altLang="zh-TW" sz="1800" dirty="0"/>
          </a:p>
          <a:p>
            <a:r>
              <a:rPr lang="en-US" altLang="zh-TW" sz="1800" b="1" dirty="0"/>
              <a:t>YOLOv8</a:t>
            </a:r>
            <a:r>
              <a:rPr lang="en-US" altLang="zh-TW" sz="1800" dirty="0"/>
              <a:t> - 2023</a:t>
            </a:r>
            <a:r>
              <a:rPr lang="zh-TW" altLang="en-US" sz="1800" dirty="0"/>
              <a:t>年</a:t>
            </a:r>
            <a:r>
              <a:rPr lang="en-US" altLang="zh-TW" sz="1800" dirty="0"/>
              <a:t>1</a:t>
            </a:r>
            <a:r>
              <a:rPr lang="zh-TW" altLang="en-US" sz="1800" dirty="0"/>
              <a:t>月</a:t>
            </a:r>
            <a:r>
              <a:rPr lang="en-US" altLang="zh-TW" sz="1800" dirty="0"/>
              <a:t>10</a:t>
            </a:r>
            <a:r>
              <a:rPr lang="zh-TW" altLang="en-US" sz="1800" dirty="0"/>
              <a:t>日 </a:t>
            </a:r>
            <a:r>
              <a:rPr lang="en-US" altLang="zh-TW" sz="1800" dirty="0">
                <a:hlinkClick r:id="rId7"/>
              </a:rPr>
              <a:t>Medium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開發團隊：</a:t>
            </a:r>
            <a:r>
              <a:rPr lang="en-US" altLang="zh-TW" sz="1800" dirty="0" err="1"/>
              <a:t>Ultralytics</a:t>
            </a:r>
            <a:endParaRPr lang="en-US" altLang="zh-TW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無錨框檢測，</a:t>
            </a:r>
            <a:r>
              <a:rPr lang="en-US" altLang="zh-TW" sz="1800" dirty="0"/>
              <a:t>C2f</a:t>
            </a:r>
            <a:r>
              <a:rPr lang="zh-TW" altLang="en-US" sz="1800" dirty="0"/>
              <a:t>模組，多任務統一框架 </a:t>
            </a:r>
            <a:r>
              <a:rPr lang="en-US" altLang="zh-TW" sz="1800" dirty="0" err="1">
                <a:hlinkClick r:id="rId8"/>
              </a:rPr>
              <a:t>Ultralytics</a:t>
            </a:r>
            <a:r>
              <a:rPr lang="en-US" altLang="zh-TW" sz="1800" dirty="0">
                <a:hlinkClick r:id="rId8"/>
              </a:rPr>
              <a:t> +3</a:t>
            </a:r>
            <a:endParaRPr lang="en-US" altLang="zh-TW" sz="1800" dirty="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0" y="603900"/>
            <a:ext cx="8108904" cy="538500"/>
          </a:xfrm>
        </p:spPr>
        <p:txBody>
          <a:bodyPr/>
          <a:lstStyle/>
          <a:p>
            <a:r>
              <a:rPr lang="zh-TW" altLang="en-US" dirty="0"/>
              <a:t>工業應用優化期 </a:t>
            </a:r>
            <a:r>
              <a:rPr lang="en-US" altLang="zh-TW" dirty="0"/>
              <a:t>(2022-2023)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498371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500" y="1469099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TW" sz="1800" b="1" dirty="0"/>
              <a:t>YOLOv9</a:t>
            </a:r>
            <a:r>
              <a:rPr lang="zh-TW" altLang="en-US" sz="1800" dirty="0"/>
              <a:t> </a:t>
            </a:r>
            <a:r>
              <a:rPr lang="en-US" altLang="zh-TW" sz="1800" dirty="0"/>
              <a:t>- 2024</a:t>
            </a:r>
            <a:r>
              <a:rPr lang="zh-TW" altLang="en-US" sz="1800" dirty="0"/>
              <a:t>年</a:t>
            </a:r>
            <a:r>
              <a:rPr lang="en-US" altLang="zh-TW" sz="1800" dirty="0"/>
              <a:t>2</a:t>
            </a:r>
            <a:r>
              <a:rPr lang="zh-TW" altLang="en-US" sz="1800" dirty="0"/>
              <a:t>月</a:t>
            </a:r>
            <a:r>
              <a:rPr lang="en-US" altLang="zh-TW" sz="1800" dirty="0"/>
              <a:t>21</a:t>
            </a:r>
            <a:r>
              <a:rPr lang="zh-TW" altLang="en-US" sz="1800" dirty="0"/>
              <a:t>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可編程梯度信息</a:t>
            </a:r>
            <a:r>
              <a:rPr lang="en-US" altLang="zh-TW" sz="1800" dirty="0"/>
              <a:t>(PGI)</a:t>
            </a:r>
            <a:r>
              <a:rPr lang="zh-TW" altLang="en-US" sz="1800" dirty="0"/>
              <a:t>，</a:t>
            </a:r>
            <a:r>
              <a:rPr lang="en-US" altLang="zh-TW" sz="1800" dirty="0"/>
              <a:t>GELAN</a:t>
            </a:r>
            <a:r>
              <a:rPr lang="zh-TW" altLang="en-US" sz="1800" dirty="0"/>
              <a:t>架構 </a:t>
            </a:r>
            <a:r>
              <a:rPr lang="en-US" altLang="zh-TW" sz="1800" dirty="0" err="1">
                <a:hlinkClick r:id="rId3"/>
              </a:rPr>
              <a:t>Ultralytics</a:t>
            </a:r>
            <a:r>
              <a:rPr lang="en-US" altLang="zh-TW" sz="1800" dirty="0">
                <a:hlinkClick r:id="rId3"/>
              </a:rPr>
              <a:t> +4</a:t>
            </a:r>
            <a:endParaRPr lang="zh-TW" alt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解決深度網路信息瓶頸問題 </a:t>
            </a:r>
            <a:r>
              <a:rPr lang="en-US" altLang="zh-TW" sz="1800" dirty="0" err="1">
                <a:hlinkClick r:id="rId4"/>
              </a:rPr>
              <a:t>arXiv</a:t>
            </a:r>
            <a:endParaRPr lang="zh-TW" altLang="en-US" sz="1800" dirty="0"/>
          </a:p>
          <a:p>
            <a:r>
              <a:rPr lang="en-US" altLang="zh-TW" sz="1800" b="1" dirty="0"/>
              <a:t>YOLOv10</a:t>
            </a:r>
            <a:r>
              <a:rPr lang="zh-TW" altLang="en-US" sz="1800" dirty="0"/>
              <a:t> </a:t>
            </a:r>
            <a:r>
              <a:rPr lang="en-US" altLang="zh-TW" sz="1800" dirty="0"/>
              <a:t>- 2024</a:t>
            </a:r>
            <a:r>
              <a:rPr lang="zh-TW" altLang="en-US" sz="1800" dirty="0"/>
              <a:t>年</a:t>
            </a:r>
            <a:r>
              <a:rPr lang="en-US" altLang="zh-TW" sz="1800" dirty="0"/>
              <a:t>5</a:t>
            </a:r>
            <a:r>
              <a:rPr lang="zh-TW" altLang="en-US" sz="1800" dirty="0"/>
              <a:t>月</a:t>
            </a:r>
            <a:r>
              <a:rPr lang="en-US" altLang="zh-TW" sz="1800" dirty="0"/>
              <a:t>23</a:t>
            </a:r>
            <a:r>
              <a:rPr lang="zh-TW" altLang="en-US" sz="1800" dirty="0"/>
              <a:t>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清華大學團隊開發 </a:t>
            </a:r>
            <a:r>
              <a:rPr lang="en-US" altLang="zh-TW" sz="1800" dirty="0" err="1">
                <a:hlinkClick r:id="rId5"/>
              </a:rPr>
              <a:t>arXiv</a:t>
            </a:r>
            <a:r>
              <a:rPr lang="en-US" altLang="zh-TW" sz="1800" dirty="0">
                <a:hlinkClick r:id="rId5"/>
              </a:rPr>
              <a:t> +2</a:t>
            </a:r>
            <a:endParaRPr lang="zh-TW" alt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首個無</a:t>
            </a:r>
            <a:r>
              <a:rPr lang="en-US" altLang="zh-TW" sz="1800" dirty="0"/>
              <a:t>NMS</a:t>
            </a:r>
            <a:r>
              <a:rPr lang="zh-TW" altLang="en-US" sz="1800" dirty="0"/>
              <a:t>的</a:t>
            </a:r>
            <a:r>
              <a:rPr lang="en-US" altLang="zh-TW" sz="1800" dirty="0"/>
              <a:t>YOLO</a:t>
            </a:r>
            <a:r>
              <a:rPr lang="zh-TW" altLang="en-US" sz="1800" dirty="0"/>
              <a:t>，一致性雙重分配機制 </a:t>
            </a:r>
            <a:r>
              <a:rPr lang="en-US" altLang="zh-TW" sz="1800" dirty="0" err="1">
                <a:hlinkClick r:id="rId3"/>
              </a:rPr>
              <a:t>Ultralytics</a:t>
            </a:r>
            <a:r>
              <a:rPr lang="en-US" altLang="zh-TW" sz="1800" dirty="0">
                <a:hlinkClick r:id="rId3"/>
              </a:rPr>
              <a:t> +2</a:t>
            </a:r>
            <a:endParaRPr lang="zh-TW" altLang="en-US" sz="1800" dirty="0"/>
          </a:p>
          <a:p>
            <a:r>
              <a:rPr lang="en-US" altLang="zh-TW" sz="1800" b="1" dirty="0"/>
              <a:t>YOLOv11</a:t>
            </a:r>
            <a:r>
              <a:rPr lang="zh-TW" altLang="en-US" sz="1800" dirty="0"/>
              <a:t> </a:t>
            </a:r>
            <a:r>
              <a:rPr lang="en-US" altLang="zh-TW" sz="1800" dirty="0"/>
              <a:t>- 2024</a:t>
            </a:r>
            <a:r>
              <a:rPr lang="zh-TW" altLang="en-US" sz="1800" dirty="0"/>
              <a:t>年</a:t>
            </a:r>
            <a:r>
              <a:rPr lang="en-US" altLang="zh-TW" sz="1800" dirty="0"/>
              <a:t>9</a:t>
            </a:r>
            <a:r>
              <a:rPr lang="zh-TW" altLang="en-US" sz="1800" dirty="0"/>
              <a:t>月</a:t>
            </a:r>
            <a:r>
              <a:rPr lang="en-US" altLang="zh-TW" sz="1800" dirty="0"/>
              <a:t>30</a:t>
            </a:r>
            <a:r>
              <a:rPr lang="zh-TW" altLang="en-US" sz="1800" dirty="0"/>
              <a:t>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dirty="0"/>
              <a:t>C3K2</a:t>
            </a:r>
            <a:r>
              <a:rPr lang="zh-TW" altLang="en-US" sz="1800" dirty="0"/>
              <a:t>區塊，</a:t>
            </a:r>
            <a:r>
              <a:rPr lang="en-US" altLang="zh-TW" sz="1800" dirty="0"/>
              <a:t>C2PSA</a:t>
            </a:r>
            <a:r>
              <a:rPr lang="zh-TW" altLang="en-US" sz="1800" dirty="0"/>
              <a:t>注意力機制 </a:t>
            </a:r>
            <a:r>
              <a:rPr lang="en-US" altLang="zh-TW" sz="1800" dirty="0" err="1">
                <a:hlinkClick r:id="rId5"/>
              </a:rPr>
              <a:t>arXiv</a:t>
            </a:r>
            <a:r>
              <a:rPr lang="en-US" altLang="zh-TW" sz="1800" dirty="0" err="1">
                <a:hlinkClick r:id="rId6"/>
              </a:rPr>
              <a:t>Ultralytics</a:t>
            </a:r>
            <a:endParaRPr lang="zh-TW" alt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1800" dirty="0"/>
              <a:t>參數量減少</a:t>
            </a:r>
            <a:r>
              <a:rPr lang="en-US" altLang="zh-TW" sz="1800" dirty="0"/>
              <a:t>22%</a:t>
            </a:r>
            <a:r>
              <a:rPr lang="zh-TW" altLang="en-US" sz="1800" dirty="0"/>
              <a:t>，延遲降低</a:t>
            </a:r>
            <a:r>
              <a:rPr lang="en-US" altLang="zh-TW" sz="1800" dirty="0"/>
              <a:t>25% </a:t>
            </a:r>
            <a:r>
              <a:rPr lang="en-US" altLang="zh-TW" sz="1800" dirty="0" err="1">
                <a:hlinkClick r:id="rId6"/>
              </a:rPr>
              <a:t>Ultralytics</a:t>
            </a:r>
            <a:endParaRPr lang="zh-TW" altLang="en-US" sz="1800" dirty="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00" y="603900"/>
            <a:ext cx="8108904" cy="538500"/>
          </a:xfrm>
        </p:spPr>
        <p:txBody>
          <a:bodyPr/>
          <a:lstStyle/>
          <a:p>
            <a:r>
              <a:rPr lang="zh-TW" altLang="en-US" dirty="0"/>
              <a:t>最新技術突破期 </a:t>
            </a:r>
            <a:r>
              <a:rPr lang="en-US" altLang="zh-TW" dirty="0"/>
              <a:t>(2024)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3387095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500" y="1405154"/>
            <a:ext cx="8339103" cy="3352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sz="1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自從</a:t>
            </a:r>
            <a:r>
              <a:rPr lang="en-US" altLang="zh-TW" sz="1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Yolov8</a:t>
            </a:r>
            <a:r>
              <a:rPr lang="zh-TW" altLang="en-US" sz="1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之後，由</a:t>
            </a:r>
            <a:r>
              <a:rPr lang="en-US" altLang="zh-TW" sz="18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Ultralytics</a:t>
            </a:r>
            <a:r>
              <a:rPr lang="zh-TW" altLang="en-US" sz="1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公司跳出來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維護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YOLO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這項技術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公司概況基本資訊創辦人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: Glenn </a:t>
            </a:r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Jocher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成立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: 2014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年總部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美國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定位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: AI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視覺技術公司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商業模式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1. 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開源專案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python# 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免費使用 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- AGPL-3.0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授權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2. 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商業產品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TW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Ultralytics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 HUB: 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雲端訓練平台（付費）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Enterprise License: 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商業授權（移除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AGPL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限制）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HUB Teams: 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團隊協作方案技術支援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企業級服務營收來源開源社群（免費）    公司成就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YOLOv3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、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YOLOv5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、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YOLOv8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、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YOLOv11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的主要維護者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GitHub 50,000+ stars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全球數百萬開發者使用與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NVIDIA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、</a:t>
            </a:r>
            <a:r>
              <a:rPr lang="en-US" altLang="zh-TW" sz="1800" dirty="0">
                <a:solidFill>
                  <a:schemeClr val="tx1"/>
                </a:solidFill>
                <a:latin typeface="Consolas" panose="020B0609020204030204" pitchFamily="49" charset="0"/>
              </a:rPr>
              <a:t>Intel</a:t>
            </a:r>
            <a:r>
              <a:rPr lang="zh-TW" alt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等合作優化</a:t>
            </a:r>
            <a:endParaRPr lang="en-US" altLang="zh-TW" sz="1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Ultralytics</a:t>
            </a:r>
            <a:r>
              <a:rPr lang="zh-TW" altLang="en-US" dirty="0"/>
              <a:t>介紹</a:t>
            </a:r>
          </a:p>
        </p:txBody>
      </p:sp>
    </p:spTree>
    <p:extLst>
      <p:ext uri="{BB962C8B-B14F-4D97-AF65-F5344CB8AC3E}">
        <p14:creationId xmlns:p14="http://schemas.microsoft.com/office/powerpoint/2010/main" val="4174134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Pytorch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err="1"/>
              <a:t>Tensorflow</a:t>
            </a:r>
            <a:endParaRPr lang="zh-TW" altLang="en-US" dirty="0"/>
          </a:p>
        </p:txBody>
      </p:sp>
      <p:pic>
        <p:nvPicPr>
          <p:cNvPr id="5124" name="Picture 4" descr="PyTorch: Meta transitions AI framework to PyTorch Foundation">
            <a:extLst>
              <a:ext uri="{FF2B5EF4-FFF2-40B4-BE49-F238E27FC236}">
                <a16:creationId xmlns:a16="http://schemas.microsoft.com/office/drawing/2014/main" id="{1BEBCA59-BC9B-429E-A06C-D1655D5C8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659" y="1384388"/>
            <a:ext cx="2406496" cy="136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ensorFlow - Wikipedia">
            <a:extLst>
              <a:ext uri="{FF2B5EF4-FFF2-40B4-BE49-F238E27FC236}">
                <a16:creationId xmlns:a16="http://schemas.microsoft.com/office/drawing/2014/main" id="{2647AC07-875C-4BE1-B49C-A5EE0BEBB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392" y="1356725"/>
            <a:ext cx="2225897" cy="142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AE6C631-25D2-4FE6-B6E6-5E26AC5A2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544590"/>
              </p:ext>
            </p:extLst>
          </p:nvPr>
        </p:nvGraphicFramePr>
        <p:xfrm>
          <a:off x="494684" y="2879630"/>
          <a:ext cx="8459432" cy="1524000"/>
        </p:xfrm>
        <a:graphic>
          <a:graphicData uri="http://schemas.openxmlformats.org/drawingml/2006/table">
            <a:tbl>
              <a:tblPr/>
              <a:tblGrid>
                <a:gridCol w="2114858">
                  <a:extLst>
                    <a:ext uri="{9D8B030D-6E8A-4147-A177-3AD203B41FA5}">
                      <a16:colId xmlns:a16="http://schemas.microsoft.com/office/drawing/2014/main" val="3480392217"/>
                    </a:ext>
                  </a:extLst>
                </a:gridCol>
                <a:gridCol w="3433334">
                  <a:extLst>
                    <a:ext uri="{9D8B030D-6E8A-4147-A177-3AD203B41FA5}">
                      <a16:colId xmlns:a16="http://schemas.microsoft.com/office/drawing/2014/main" val="2504872155"/>
                    </a:ext>
                  </a:extLst>
                </a:gridCol>
                <a:gridCol w="2702960">
                  <a:extLst>
                    <a:ext uri="{9D8B030D-6E8A-4147-A177-3AD203B41FA5}">
                      <a16:colId xmlns:a16="http://schemas.microsoft.com/office/drawing/2014/main" val="15195041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2304864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zh-TW" altLang="en-US"/>
                        <a:t>特性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TensorFlow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58288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TW" altLang="en-US" b="1"/>
                        <a:t>執行模式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動態圖 </a:t>
                      </a:r>
                      <a:r>
                        <a:rPr lang="en-US" altLang="zh-TW"/>
                        <a:t>(</a:t>
                      </a:r>
                      <a:r>
                        <a:rPr lang="en-US"/>
                        <a:t>Eager Execution)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靜態圖優先 </a:t>
                      </a:r>
                      <a:r>
                        <a:rPr lang="en-US" altLang="zh-TW"/>
                        <a:t>(@</a:t>
                      </a:r>
                      <a:r>
                        <a:rPr lang="en-US"/>
                        <a:t>tf.function)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75919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TW" altLang="en-US" b="1"/>
                        <a:t>開發體驗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Python</a:t>
                      </a:r>
                      <a:r>
                        <a:rPr lang="zh-TW" altLang="en-US"/>
                        <a:t>原生，即寫即測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需編譯優化，調試較複雜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6527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TW" altLang="en-US" b="1"/>
                        <a:t>記憶體管理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手動控制，靈活調配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自動優化，較難干預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93695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TW" altLang="en-US" b="1"/>
                        <a:t>模型部署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TorchScript, ONNX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TFLite</a:t>
                      </a:r>
                      <a:r>
                        <a:rPr lang="en-US" dirty="0"/>
                        <a:t>, TF Serving, TF.js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043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186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7533" y="243853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Pytorch</a:t>
            </a:r>
            <a:r>
              <a:rPr lang="en-US" altLang="zh-TW" dirty="0"/>
              <a:t> </a:t>
            </a:r>
            <a:r>
              <a:rPr lang="zh-TW" altLang="en-US" dirty="0"/>
              <a:t>與 </a:t>
            </a:r>
            <a:r>
              <a:rPr lang="en-US" altLang="zh-TW" dirty="0" err="1"/>
              <a:t>Tensorflow</a:t>
            </a:r>
            <a:endParaRPr lang="zh-TW" altLang="en-US" dirty="0"/>
          </a:p>
        </p:txBody>
      </p:sp>
      <p:pic>
        <p:nvPicPr>
          <p:cNvPr id="5124" name="Picture 4" descr="PyTorch: Meta transitions AI framework to PyTorch Foundation">
            <a:extLst>
              <a:ext uri="{FF2B5EF4-FFF2-40B4-BE49-F238E27FC236}">
                <a16:creationId xmlns:a16="http://schemas.microsoft.com/office/drawing/2014/main" id="{1BEBCA59-BC9B-429E-A06C-D1655D5C8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33" y="1348248"/>
            <a:ext cx="2406496" cy="136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ensorFlow - Wikipedia">
            <a:extLst>
              <a:ext uri="{FF2B5EF4-FFF2-40B4-BE49-F238E27FC236}">
                <a16:creationId xmlns:a16="http://schemas.microsoft.com/office/drawing/2014/main" id="{2647AC07-875C-4BE1-B49C-A5EE0BEBB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914" y="1320587"/>
            <a:ext cx="2225897" cy="142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8AA73A5-39C3-4E87-833D-CE97DB2FC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6410"/>
              </p:ext>
            </p:extLst>
          </p:nvPr>
        </p:nvGraphicFramePr>
        <p:xfrm>
          <a:off x="605592" y="2766818"/>
          <a:ext cx="7877175" cy="2133600"/>
        </p:xfrm>
        <a:graphic>
          <a:graphicData uri="http://schemas.openxmlformats.org/drawingml/2006/table">
            <a:tbl>
              <a:tblPr/>
              <a:tblGrid>
                <a:gridCol w="2625725">
                  <a:extLst>
                    <a:ext uri="{9D8B030D-6E8A-4147-A177-3AD203B41FA5}">
                      <a16:colId xmlns:a16="http://schemas.microsoft.com/office/drawing/2014/main" val="2075360477"/>
                    </a:ext>
                  </a:extLst>
                </a:gridCol>
                <a:gridCol w="2625725">
                  <a:extLst>
                    <a:ext uri="{9D8B030D-6E8A-4147-A177-3AD203B41FA5}">
                      <a16:colId xmlns:a16="http://schemas.microsoft.com/office/drawing/2014/main" val="937236870"/>
                    </a:ext>
                  </a:extLst>
                </a:gridCol>
                <a:gridCol w="2625725">
                  <a:extLst>
                    <a:ext uri="{9D8B030D-6E8A-4147-A177-3AD203B41FA5}">
                      <a16:colId xmlns:a16="http://schemas.microsoft.com/office/drawing/2014/main" val="261774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層面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TensorFlow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956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主導公司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Meta (Facebook)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7117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雲端支援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AWS, Azure </a:t>
                      </a:r>
                      <a:r>
                        <a:rPr lang="zh-TW" altLang="en-US"/>
                        <a:t>優先支援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Cloud </a:t>
                      </a:r>
                      <a:r>
                        <a:rPr lang="zh-TW" altLang="en-US"/>
                        <a:t>深度整合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608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硬體優化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NVIDIA GPU </a:t>
                      </a:r>
                      <a:r>
                        <a:rPr lang="zh-TW" altLang="en-US"/>
                        <a:t>為主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TPU + GPU </a:t>
                      </a:r>
                      <a:r>
                        <a:rPr lang="zh-TW" altLang="en-US"/>
                        <a:t>雙線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104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產業採用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研究機構、新創公司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大型企業、生產部署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9900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開發方向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研究創新、快速迭代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穩定性、規模化部署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73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商業支援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Meta AI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Google Cloud AI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29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9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402448" y="1527286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zh-TW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層級關係</a:t>
            </a:r>
            <a:endParaRPr lang="en-US" altLang="zh-TW" sz="28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algn="ctr"/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NVIDIA CUDA/</a:t>
            </a:r>
            <a:r>
              <a:rPr lang="en-US" altLang="zh-TW" sz="28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cuDNN</a:t>
            </a:r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系統層</a:t>
            </a:r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↑    </a:t>
            </a:r>
          </a:p>
          <a:p>
            <a:pPr algn="ctr"/>
            <a:r>
              <a:rPr lang="en-US" altLang="zh-TW" sz="28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PyTorch</a:t>
            </a:r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框架層</a:t>
            </a:r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ctr"/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↑  </a:t>
            </a:r>
          </a:p>
          <a:p>
            <a:pPr algn="ctr"/>
            <a:r>
              <a:rPr lang="en-US" altLang="zh-TW" sz="28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Ultralytics</a:t>
            </a:r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TW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應用層</a:t>
            </a:r>
            <a:r>
              <a:rPr lang="en-US" altLang="zh-TW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99" y="603900"/>
            <a:ext cx="8409441" cy="538500"/>
          </a:xfrm>
        </p:spPr>
        <p:txBody>
          <a:bodyPr/>
          <a:lstStyle/>
          <a:p>
            <a:r>
              <a:rPr lang="en-US" altLang="zh-TW" dirty="0" err="1"/>
              <a:t>Ultralytics</a:t>
            </a:r>
            <a:r>
              <a:rPr lang="en-US" altLang="zh-TW" dirty="0"/>
              <a:t> &amp;</a:t>
            </a:r>
            <a:r>
              <a:rPr lang="en-US" altLang="zh-TW" dirty="0" err="1"/>
              <a:t>Pytorch</a:t>
            </a:r>
            <a:r>
              <a:rPr lang="en-US" altLang="zh-TW" dirty="0"/>
              <a:t> &amp; NVIDIA CUDA/</a:t>
            </a:r>
            <a:r>
              <a:rPr lang="en-US" altLang="zh-TW" dirty="0" err="1"/>
              <a:t>cuDNN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7604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499" y="1612195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AutoNum type="arabicPeriod"/>
            </a:pPr>
            <a:r>
              <a:rPr lang="en-US" altLang="zh-TW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NVIDIA CUDA/</a:t>
            </a:r>
            <a:r>
              <a:rPr lang="en-US" altLang="zh-TW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cuDNN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（硬體介面層）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CUDA: </a:t>
            </a:r>
          </a:p>
          <a:p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GPU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並行計算平台，直接與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GPU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硬體溝通</a:t>
            </a:r>
            <a:r>
              <a:rPr lang="en-US" altLang="zh-TW" sz="16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cuDNN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深度學習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GPU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加速庫，優化卷積、池化等運算安裝位置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系統級 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sz="16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/local/</a:t>
            </a:r>
            <a:r>
              <a:rPr lang="en-US" altLang="zh-TW" sz="16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cuda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功能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提供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GPU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運算的底層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API</a:t>
            </a:r>
          </a:p>
          <a:p>
            <a:endParaRPr lang="en-US" altLang="zh-TW" sz="18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en-US" altLang="zh-TW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PyTorch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（深度學習框架）角色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調用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CUDA/</a:t>
            </a:r>
            <a:r>
              <a:rPr lang="en-US" altLang="zh-TW" sz="16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cuDNN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執行張量運算功能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自動微分張量運算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GPU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記憶體管理將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Python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代碼轉換為</a:t>
            </a:r>
            <a:r>
              <a:rPr lang="en-US" altLang="zh-TW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CUDA</a:t>
            </a:r>
            <a:r>
              <a:rPr lang="zh-TW" altLang="en-US" sz="16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核心</a:t>
            </a:r>
            <a:endParaRPr lang="en-US" altLang="zh-TW" sz="16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99" y="603900"/>
            <a:ext cx="8409441" cy="538500"/>
          </a:xfrm>
        </p:spPr>
        <p:txBody>
          <a:bodyPr/>
          <a:lstStyle/>
          <a:p>
            <a:r>
              <a:rPr lang="en-US" altLang="zh-TW" dirty="0" err="1"/>
              <a:t>Ultralytics</a:t>
            </a:r>
            <a:r>
              <a:rPr lang="en-US" altLang="zh-TW" dirty="0"/>
              <a:t> &amp;</a:t>
            </a:r>
            <a:r>
              <a:rPr lang="en-US" altLang="zh-TW" dirty="0" err="1"/>
              <a:t>Pytorch</a:t>
            </a:r>
            <a:r>
              <a:rPr lang="en-US" altLang="zh-TW" dirty="0"/>
              <a:t> &amp; NVIDIA CUDA/</a:t>
            </a:r>
            <a:r>
              <a:rPr lang="en-US" altLang="zh-TW" dirty="0" err="1"/>
              <a:t>cuDNN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6330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603900"/>
            <a:ext cx="7797000" cy="538500"/>
          </a:xfrm>
        </p:spPr>
        <p:txBody>
          <a:bodyPr/>
          <a:lstStyle/>
          <a:p>
            <a:r>
              <a:rPr lang="zh-TW" altLang="en-US" dirty="0"/>
              <a:t>性能指標對比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973AF51-9082-45B0-A745-E46C6BD82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457021"/>
              </p:ext>
            </p:extLst>
          </p:nvPr>
        </p:nvGraphicFramePr>
        <p:xfrm>
          <a:off x="341313" y="1580059"/>
          <a:ext cx="7877175" cy="3169920"/>
        </p:xfrm>
        <a:graphic>
          <a:graphicData uri="http://schemas.openxmlformats.org/drawingml/2006/table">
            <a:tbl>
              <a:tblPr/>
              <a:tblGrid>
                <a:gridCol w="1575435">
                  <a:extLst>
                    <a:ext uri="{9D8B030D-6E8A-4147-A177-3AD203B41FA5}">
                      <a16:colId xmlns:a16="http://schemas.microsoft.com/office/drawing/2014/main" val="2517074443"/>
                    </a:ext>
                  </a:extLst>
                </a:gridCol>
                <a:gridCol w="1575435">
                  <a:extLst>
                    <a:ext uri="{9D8B030D-6E8A-4147-A177-3AD203B41FA5}">
                      <a16:colId xmlns:a16="http://schemas.microsoft.com/office/drawing/2014/main" val="1816800441"/>
                    </a:ext>
                  </a:extLst>
                </a:gridCol>
                <a:gridCol w="1575435">
                  <a:extLst>
                    <a:ext uri="{9D8B030D-6E8A-4147-A177-3AD203B41FA5}">
                      <a16:colId xmlns:a16="http://schemas.microsoft.com/office/drawing/2014/main" val="1552342492"/>
                    </a:ext>
                  </a:extLst>
                </a:gridCol>
                <a:gridCol w="1575435">
                  <a:extLst>
                    <a:ext uri="{9D8B030D-6E8A-4147-A177-3AD203B41FA5}">
                      <a16:colId xmlns:a16="http://schemas.microsoft.com/office/drawing/2014/main" val="2484939807"/>
                    </a:ext>
                  </a:extLst>
                </a:gridCol>
                <a:gridCol w="1575435">
                  <a:extLst>
                    <a:ext uri="{9D8B030D-6E8A-4147-A177-3AD203B41FA5}">
                      <a16:colId xmlns:a16="http://schemas.microsoft.com/office/drawing/2014/main" val="1200214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/>
                        <a:t>版本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mAP@0.5:0.95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mAP@0.5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推理速度</a:t>
                      </a:r>
                      <a:r>
                        <a:rPr lang="en-US" altLang="zh-TW"/>
                        <a:t>(</a:t>
                      </a:r>
                      <a:r>
                        <a:rPr lang="en-US"/>
                        <a:t>FPS)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參數量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270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YOLOv3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36.2%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60.6%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61.5M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48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YOLOv4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43.5%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65.7%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27.6M </a:t>
                      </a:r>
                      <a:r>
                        <a:rPr lang="en-US" dirty="0" err="1">
                          <a:hlinkClick r:id="rId3"/>
                        </a:rPr>
                        <a:t>arXiv</a:t>
                      </a:r>
                      <a:r>
                        <a:rPr lang="en-US" dirty="0">
                          <a:hlinkClick r:id="rId3"/>
                        </a:rPr>
                        <a:t> +2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941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YOLOv5x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50.7%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68.9%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89.0M </a:t>
                      </a:r>
                      <a:r>
                        <a:rPr lang="en-US">
                          <a:hlinkClick r:id="rId4"/>
                        </a:rPr>
                        <a:t>GitHub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59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YOLOv7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51.2%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69.7%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161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37.2M </a:t>
                      </a:r>
                      <a:r>
                        <a:rPr lang="en-US">
                          <a:hlinkClick r:id="rId5"/>
                        </a:rPr>
                        <a:t>V7 Labs +2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80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YOLOv8x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53.9%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69.8%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68.2M </a:t>
                      </a:r>
                      <a:r>
                        <a:rPr lang="en-US">
                          <a:hlinkClick r:id="rId6"/>
                        </a:rPr>
                        <a:t>Ultralytics</a:t>
                      </a:r>
                      <a:r>
                        <a:rPr lang="en-US">
                          <a:hlinkClick r:id="rId3"/>
                        </a:rPr>
                        <a:t>arXiv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92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YOLOv9e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55.6%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72.8%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172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57.3M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29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YOLOv10x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54.4%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71.2%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29.5M </a:t>
                      </a:r>
                      <a:r>
                        <a:rPr lang="en-US">
                          <a:hlinkClick r:id="rId7"/>
                        </a:rPr>
                        <a:t>Ultralytics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33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YOLOv11x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54.7%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70.1%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56.9M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60096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946D3D6-4466-4189-93C4-73883DAB1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1142400"/>
            <a:ext cx="28296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COCO數據集mAP演進</a:t>
            </a:r>
          </a:p>
        </p:txBody>
      </p:sp>
    </p:spTree>
    <p:extLst>
      <p:ext uri="{BB962C8B-B14F-4D97-AF65-F5344CB8AC3E}">
        <p14:creationId xmlns:p14="http://schemas.microsoft.com/office/powerpoint/2010/main" val="68513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499" y="1296450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b="1" dirty="0"/>
              <a:t>高精度需求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首選</a:t>
            </a:r>
            <a:r>
              <a:rPr lang="zh-TW" altLang="en-US" dirty="0"/>
              <a:t>：</a:t>
            </a:r>
            <a:r>
              <a:rPr lang="en-US" altLang="zh-TW" dirty="0"/>
              <a:t>YOLOv9e (55.6% </a:t>
            </a:r>
            <a:r>
              <a:rPr lang="en-US" altLang="zh-TW" dirty="0" err="1"/>
              <a:t>mAP</a:t>
            </a:r>
            <a:r>
              <a:rPr lang="en-US" altLang="zh-TW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備選</a:t>
            </a:r>
            <a:r>
              <a:rPr lang="zh-TW" altLang="en-US" dirty="0"/>
              <a:t>：</a:t>
            </a:r>
            <a:r>
              <a:rPr lang="en-US" altLang="zh-TW" dirty="0"/>
              <a:t>YOLOv11x (54.7% </a:t>
            </a:r>
            <a:r>
              <a:rPr lang="en-US" altLang="zh-TW" dirty="0" err="1"/>
              <a:t>mAP</a:t>
            </a:r>
            <a:r>
              <a:rPr lang="zh-TW" altLang="en-US" dirty="0"/>
              <a:t>，多任務支援</a:t>
            </a:r>
            <a:r>
              <a:rPr lang="en-US" altLang="zh-TW" dirty="0"/>
              <a:t>)</a:t>
            </a:r>
          </a:p>
          <a:p>
            <a:r>
              <a:rPr lang="zh-TW" altLang="en-US" b="1" dirty="0"/>
              <a:t>即時性需求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首選</a:t>
            </a:r>
            <a:r>
              <a:rPr lang="zh-TW" altLang="en-US" dirty="0"/>
              <a:t>：</a:t>
            </a:r>
            <a:r>
              <a:rPr lang="en-US" altLang="zh-TW" dirty="0"/>
              <a:t>YOLOv7 (161 FPS @ 51.2% </a:t>
            </a:r>
            <a:r>
              <a:rPr lang="en-US" altLang="zh-TW" dirty="0" err="1"/>
              <a:t>mAP</a:t>
            </a:r>
            <a:r>
              <a:rPr lang="en-US" altLang="zh-TW" dirty="0"/>
              <a:t>) </a:t>
            </a:r>
            <a:r>
              <a:rPr lang="en-US" altLang="zh-TW" dirty="0">
                <a:hlinkClick r:id="rId3"/>
              </a:rPr>
              <a:t>V7 Labs +3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備選</a:t>
            </a:r>
            <a:r>
              <a:rPr lang="zh-TW" altLang="en-US" dirty="0"/>
              <a:t>：</a:t>
            </a:r>
            <a:r>
              <a:rPr lang="en-US" altLang="zh-TW" dirty="0"/>
              <a:t>YOLOv6-N (1187 FPS @ 37.5% </a:t>
            </a:r>
            <a:r>
              <a:rPr lang="en-US" altLang="zh-TW" dirty="0" err="1"/>
              <a:t>mAP</a:t>
            </a:r>
            <a:r>
              <a:rPr lang="en-US" altLang="zh-TW" dirty="0"/>
              <a:t>) </a:t>
            </a:r>
            <a:r>
              <a:rPr lang="en-US" altLang="zh-TW" dirty="0" err="1">
                <a:hlinkClick r:id="rId4"/>
              </a:rPr>
              <a:t>PyImageSearch</a:t>
            </a:r>
            <a:r>
              <a:rPr lang="en-US" altLang="zh-TW" dirty="0">
                <a:hlinkClick r:id="rId4"/>
              </a:rPr>
              <a:t> +3</a:t>
            </a:r>
            <a:endParaRPr lang="zh-TW" altLang="en-US" dirty="0"/>
          </a:p>
          <a:p>
            <a:r>
              <a:rPr lang="zh-TW" altLang="en-US" b="1" dirty="0"/>
              <a:t>邊緣部署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首選</a:t>
            </a:r>
            <a:r>
              <a:rPr lang="zh-TW" altLang="en-US" dirty="0"/>
              <a:t>：</a:t>
            </a:r>
            <a:r>
              <a:rPr lang="en-US" altLang="zh-TW" dirty="0"/>
              <a:t>YOLOv10-N (1.84ms</a:t>
            </a:r>
            <a:r>
              <a:rPr lang="zh-TW" altLang="en-US" dirty="0"/>
              <a:t>延遲，無</a:t>
            </a:r>
            <a:r>
              <a:rPr lang="en-US" altLang="zh-TW" dirty="0"/>
              <a:t>NMS) </a:t>
            </a:r>
            <a:r>
              <a:rPr lang="en-US" altLang="zh-TW" dirty="0" err="1">
                <a:hlinkClick r:id="rId5"/>
              </a:rPr>
              <a:t>Ultralytics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備選</a:t>
            </a:r>
            <a:r>
              <a:rPr lang="zh-TW" altLang="en-US" dirty="0"/>
              <a:t>：</a:t>
            </a:r>
            <a:r>
              <a:rPr lang="en-US" altLang="zh-TW" dirty="0"/>
              <a:t>YOLOv11n (1.55ms</a:t>
            </a:r>
            <a:r>
              <a:rPr lang="zh-TW" altLang="en-US" dirty="0"/>
              <a:t>延遲</a:t>
            </a:r>
            <a:r>
              <a:rPr lang="en-US" altLang="zh-TW" dirty="0"/>
              <a:t>)</a:t>
            </a:r>
          </a:p>
          <a:p>
            <a:r>
              <a:rPr lang="zh-TW" altLang="en-US" b="1" dirty="0"/>
              <a:t>工業應用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首選</a:t>
            </a:r>
            <a:r>
              <a:rPr lang="zh-TW" altLang="en-US" dirty="0"/>
              <a:t>：</a:t>
            </a:r>
            <a:r>
              <a:rPr lang="en-US" altLang="zh-TW" dirty="0"/>
              <a:t>YOLOv6 (</a:t>
            </a:r>
            <a:r>
              <a:rPr lang="zh-TW" altLang="en-US" dirty="0"/>
              <a:t>硬體優化，量化支援</a:t>
            </a:r>
            <a:r>
              <a:rPr lang="en-US" altLang="zh-TW" dirty="0"/>
              <a:t>) </a:t>
            </a:r>
            <a:r>
              <a:rPr lang="en-US" altLang="zh-TW" dirty="0" err="1">
                <a:hlinkClick r:id="rId6"/>
              </a:rPr>
              <a:t>arXiv</a:t>
            </a:r>
            <a:r>
              <a:rPr lang="en-US" altLang="zh-TW" dirty="0">
                <a:hlinkClick r:id="rId6"/>
              </a:rPr>
              <a:t> +3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備選</a:t>
            </a:r>
            <a:r>
              <a:rPr lang="zh-TW" altLang="en-US" dirty="0"/>
              <a:t>：</a:t>
            </a:r>
            <a:r>
              <a:rPr lang="en-US" altLang="zh-TW" dirty="0"/>
              <a:t>YOLOv8 (</a:t>
            </a:r>
            <a:r>
              <a:rPr lang="zh-TW" altLang="en-US" dirty="0"/>
              <a:t>完整部署工具鏈</a:t>
            </a:r>
            <a:r>
              <a:rPr lang="en-US" altLang="zh-TW" dirty="0"/>
              <a:t>) </a:t>
            </a:r>
            <a:r>
              <a:rPr lang="en-US" altLang="zh-TW" dirty="0" err="1">
                <a:hlinkClick r:id="rId7"/>
              </a:rPr>
              <a:t>Ultralytics</a:t>
            </a:r>
            <a:endParaRPr lang="zh-TW" altLang="en-US" dirty="0"/>
          </a:p>
          <a:p>
            <a:r>
              <a:rPr lang="zh-TW" altLang="en-US" b="1" dirty="0"/>
              <a:t>研究開發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首選</a:t>
            </a:r>
            <a:r>
              <a:rPr lang="zh-TW" altLang="en-US" dirty="0"/>
              <a:t>：</a:t>
            </a:r>
            <a:r>
              <a:rPr lang="en-US" altLang="zh-TW" dirty="0"/>
              <a:t>YOLOv11 (</a:t>
            </a:r>
            <a:r>
              <a:rPr lang="zh-TW" altLang="en-US" dirty="0"/>
              <a:t>最新架構，活躍更新</a:t>
            </a:r>
            <a:r>
              <a:rPr lang="en-US" altLang="zh-TW" dirty="0"/>
              <a:t>) </a:t>
            </a:r>
            <a:r>
              <a:rPr lang="en-US" altLang="zh-TW" dirty="0" err="1">
                <a:hlinkClick r:id="rId8"/>
              </a:rPr>
              <a:t>Ultralytics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備選</a:t>
            </a:r>
            <a:r>
              <a:rPr lang="zh-TW" altLang="en-US" dirty="0"/>
              <a:t>：</a:t>
            </a:r>
            <a:r>
              <a:rPr lang="en-US" altLang="zh-TW" dirty="0"/>
              <a:t>YOLOv9 (</a:t>
            </a:r>
            <a:r>
              <a:rPr lang="zh-TW" altLang="en-US" dirty="0"/>
              <a:t>創新</a:t>
            </a:r>
            <a:r>
              <a:rPr lang="en-US" altLang="zh-TW" dirty="0"/>
              <a:t>PGI</a:t>
            </a:r>
            <a:r>
              <a:rPr lang="zh-TW" altLang="en-US" dirty="0"/>
              <a:t>機制</a:t>
            </a:r>
            <a:r>
              <a:rPr lang="en-US" altLang="zh-TW" dirty="0"/>
              <a:t>) </a:t>
            </a:r>
            <a:r>
              <a:rPr lang="en-US" altLang="zh-TW" dirty="0" err="1">
                <a:hlinkClick r:id="rId9"/>
              </a:rPr>
              <a:t>arXiv</a:t>
            </a:r>
            <a:r>
              <a:rPr lang="en-US" altLang="zh-TW" dirty="0" err="1">
                <a:hlinkClick r:id="rId10"/>
              </a:rPr>
              <a:t>arXiv</a:t>
            </a:r>
            <a:endParaRPr lang="zh-TW" altLang="en-US" dirty="0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版本選擇建議</a:t>
            </a:r>
          </a:p>
        </p:txBody>
      </p:sp>
    </p:spTree>
    <p:extLst>
      <p:ext uri="{BB962C8B-B14F-4D97-AF65-F5344CB8AC3E}">
        <p14:creationId xmlns:p14="http://schemas.microsoft.com/office/powerpoint/2010/main" val="1823356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Google Shape;165;p30">
            <a:extLst>
              <a:ext uri="{FF2B5EF4-FFF2-40B4-BE49-F238E27FC236}">
                <a16:creationId xmlns:a16="http://schemas.microsoft.com/office/drawing/2014/main" id="{FE01C88C-47B3-DF89-E2FC-3A10F7FE7D6E}"/>
              </a:ext>
            </a:extLst>
          </p:cNvPr>
          <p:cNvSpPr txBox="1"/>
          <p:nvPr/>
        </p:nvSpPr>
        <p:spPr>
          <a:xfrm>
            <a:off x="344499" y="1296450"/>
            <a:ext cx="8339103" cy="301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TW" sz="1600" dirty="0">
                <a:solidFill>
                  <a:srgbClr val="98C379"/>
                </a:solidFill>
                <a:effectLst/>
              </a:rPr>
              <a:t>"YOLOv11n"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: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"https://github.com/</a:t>
            </a:r>
            <a:r>
              <a:rPr lang="en-US" altLang="zh-TW" sz="1600" dirty="0" err="1">
                <a:solidFill>
                  <a:srgbClr val="98C379"/>
                </a:solidFill>
                <a:effectLst/>
              </a:rPr>
              <a:t>ultralytics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/assets/releases/download/v8.3.0/yolo11n.pt"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,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"YOLOv11s"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: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"https://github.com/</a:t>
            </a:r>
            <a:r>
              <a:rPr lang="en-US" altLang="zh-TW" sz="1600" dirty="0" err="1">
                <a:solidFill>
                  <a:srgbClr val="98C379"/>
                </a:solidFill>
                <a:effectLst/>
              </a:rPr>
              <a:t>ultralytics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/assets/releases/download/v8.3.0/yolo11s.pt"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,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"YOLOv11m"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: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"https://github.com/</a:t>
            </a:r>
            <a:r>
              <a:rPr lang="en-US" altLang="zh-TW" sz="1600" dirty="0" err="1">
                <a:solidFill>
                  <a:srgbClr val="98C379"/>
                </a:solidFill>
                <a:effectLst/>
              </a:rPr>
              <a:t>ultralytics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/assets/releases/download/v8.3.0/yolo11m.pt"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,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"YOLOv11l"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: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"https://github.com/</a:t>
            </a:r>
            <a:r>
              <a:rPr lang="en-US" altLang="zh-TW" sz="1600" dirty="0" err="1">
                <a:solidFill>
                  <a:srgbClr val="98C379"/>
                </a:solidFill>
                <a:effectLst/>
              </a:rPr>
              <a:t>ultralytics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/assets/releases/download/v8.3.0/yolo11l.pt"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,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"YOLOv11x"</a:t>
            </a:r>
            <a:r>
              <a:rPr lang="en-US" altLang="zh-TW" sz="1600" dirty="0">
                <a:solidFill>
                  <a:srgbClr val="ABB2BF"/>
                </a:solidFill>
                <a:effectLst/>
              </a:rPr>
              <a:t>:</a:t>
            </a:r>
            <a:r>
              <a:rPr lang="en-US" altLang="zh-TW" sz="1600" dirty="0"/>
              <a:t> 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"https://github.com/</a:t>
            </a:r>
            <a:r>
              <a:rPr lang="en-US" altLang="zh-TW" sz="1600" dirty="0" err="1">
                <a:solidFill>
                  <a:srgbClr val="98C379"/>
                </a:solidFill>
                <a:effectLst/>
              </a:rPr>
              <a:t>ultralytics</a:t>
            </a:r>
            <a:r>
              <a:rPr lang="en-US" altLang="zh-TW" sz="1600" dirty="0">
                <a:solidFill>
                  <a:srgbClr val="98C379"/>
                </a:solidFill>
                <a:effectLst/>
              </a:rPr>
              <a:t>/assets/releases/download/v8.3.0/yolo11x.pt"</a:t>
            </a:r>
            <a:endParaRPr lang="en-US" altLang="zh-TW" sz="1200" dirty="0">
              <a:solidFill>
                <a:srgbClr val="4EC9B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需要套件</a:t>
            </a:r>
          </a:p>
        </p:txBody>
      </p:sp>
    </p:spTree>
    <p:extLst>
      <p:ext uri="{BB962C8B-B14F-4D97-AF65-F5344CB8AC3E}">
        <p14:creationId xmlns:p14="http://schemas.microsoft.com/office/powerpoint/2010/main" val="590474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模型版本對比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6112943-9CBE-4251-AB91-BBFA18AE06E8}"/>
              </a:ext>
            </a:extLst>
          </p:cNvPr>
          <p:cNvGraphicFramePr>
            <a:graphicFrameLocks noGrp="1"/>
          </p:cNvGraphicFramePr>
          <p:nvPr/>
        </p:nvGraphicFramePr>
        <p:xfrm>
          <a:off x="341314" y="1834039"/>
          <a:ext cx="7877172" cy="2042160"/>
        </p:xfrm>
        <a:graphic>
          <a:graphicData uri="http://schemas.openxmlformats.org/drawingml/2006/table">
            <a:tbl>
              <a:tblPr/>
              <a:tblGrid>
                <a:gridCol w="1312862">
                  <a:extLst>
                    <a:ext uri="{9D8B030D-6E8A-4147-A177-3AD203B41FA5}">
                      <a16:colId xmlns:a16="http://schemas.microsoft.com/office/drawing/2014/main" val="2040163496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63158777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3368766912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2519099957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40293908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304023032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zh-TW" altLang="en-US" sz="1400"/>
                        <a:t>規格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參數量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層數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特徵圖寬度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適用場景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866695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 b="1"/>
                        <a:t>n (nano)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2.6M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最少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最窄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6.5G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邊緣設備、手機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8998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b="1"/>
                        <a:t>s (small)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9.4M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21.5G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嵌入式系統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1653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b="1"/>
                        <a:t>m (medium)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20.1M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68.0G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一般應用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8428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b="1"/>
                        <a:t>l (large)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25.3M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86.9G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高精度需求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33545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b="1"/>
                        <a:t>x (extra)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56.9M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最多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/>
                        <a:t>最寬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194.9G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/>
                        <a:t>最高精度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849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19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C0673E0-2DEF-FDFA-D096-41307904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熱銷新品– 傑森創工- 網路商店- Arduino、樹莓派的專家，創客的好朋友">
            <a:extLst>
              <a:ext uri="{FF2B5EF4-FFF2-40B4-BE49-F238E27FC236}">
                <a16:creationId xmlns:a16="http://schemas.microsoft.com/office/drawing/2014/main" id="{B7D8CA5E-9B24-DD10-08B6-5D609354CD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45A7A772-3B10-4046-A1CF-72204363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訓練性能差異（</a:t>
            </a:r>
            <a:r>
              <a:rPr lang="en-US" altLang="zh-TW" dirty="0"/>
              <a:t>CPU</a:t>
            </a:r>
            <a:r>
              <a:rPr lang="zh-TW" altLang="en-US" dirty="0"/>
              <a:t>環境）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6112943-9CBE-4251-AB91-BBFA18AE0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832031"/>
              </p:ext>
            </p:extLst>
          </p:nvPr>
        </p:nvGraphicFramePr>
        <p:xfrm>
          <a:off x="341314" y="1834039"/>
          <a:ext cx="7877172" cy="2042160"/>
        </p:xfrm>
        <a:graphic>
          <a:graphicData uri="http://schemas.openxmlformats.org/drawingml/2006/table">
            <a:tbl>
              <a:tblPr/>
              <a:tblGrid>
                <a:gridCol w="1312862">
                  <a:extLst>
                    <a:ext uri="{9D8B030D-6E8A-4147-A177-3AD203B41FA5}">
                      <a16:colId xmlns:a16="http://schemas.microsoft.com/office/drawing/2014/main" val="2040163496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63158777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3368766912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2519099957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40293908"/>
                    </a:ext>
                  </a:extLst>
                </a:gridCol>
                <a:gridCol w="1312862">
                  <a:extLst>
                    <a:ext uri="{9D8B030D-6E8A-4147-A177-3AD203B41FA5}">
                      <a16:colId xmlns:a16="http://schemas.microsoft.com/office/drawing/2014/main" val="304023032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zh-TW" altLang="en-US"/>
                        <a:t>模型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訓練速度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記憶體需求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收斂</a:t>
                      </a:r>
                      <a:r>
                        <a:rPr lang="en-US"/>
                        <a:t>epochs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最終精度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模型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866695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b="1"/>
                        <a:t>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最快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~4GB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50-100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較低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8998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b="1"/>
                        <a:t>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~6GB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50-100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1653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b="1"/>
                        <a:t>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~10GB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100-150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8428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b="1"/>
                        <a:t>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~14GB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150-200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33545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b="1"/>
                        <a:t>x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最慢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~20GB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200-300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最高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x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849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38506"/>
      </p:ext>
    </p:extLst>
  </p:cSld>
  <p:clrMapOvr>
    <a:masterClrMapping/>
  </p:clrMapOvr>
</p:sld>
</file>

<file path=ppt/theme/theme1.xml><?xml version="1.0" encoding="utf-8"?>
<a:theme xmlns:a="http://schemas.openxmlformats.org/drawingml/2006/main" name="TinyMLx">
  <a:themeElements>
    <a:clrScheme name="Google Colours">
      <a:dk1>
        <a:srgbClr val="3C4043"/>
      </a:dk1>
      <a:lt1>
        <a:srgbClr val="5F6368"/>
      </a:lt1>
      <a:dk2>
        <a:srgbClr val="BDC1C6"/>
      </a:dk2>
      <a:lt2>
        <a:srgbClr val="F8F9FA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185ABC"/>
      </a:accent5>
      <a:accent6>
        <a:srgbClr val="B31412"/>
      </a:accent6>
      <a:hlink>
        <a:srgbClr val="1A73E8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1505</Words>
  <Application>Microsoft Office PowerPoint</Application>
  <PresentationFormat>如螢幕大小 (16:9)</PresentationFormat>
  <Paragraphs>284</Paragraphs>
  <Slides>20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8" baseType="lpstr">
      <vt:lpstr>Google Sans</vt:lpstr>
      <vt:lpstr>Google Sans Medium</vt:lpstr>
      <vt:lpstr>Helvetica Neue Light</vt:lpstr>
      <vt:lpstr>Consolas</vt:lpstr>
      <vt:lpstr>Arial</vt:lpstr>
      <vt:lpstr>Tahoma</vt:lpstr>
      <vt:lpstr>Trebuchet MS</vt:lpstr>
      <vt:lpstr>TinyMLx</vt:lpstr>
      <vt:lpstr>電腦視覺課程</vt:lpstr>
      <vt:lpstr>課程大綱</vt:lpstr>
      <vt:lpstr>YOLO模型應用與分類器的訓練與應用</vt:lpstr>
      <vt:lpstr>傳統演算法依賴人類定義的規則</vt:lpstr>
      <vt:lpstr>機器學習演算法從資料中提取規則</vt:lpstr>
      <vt:lpstr>YOLO (You Only Look Once)</vt:lpstr>
      <vt:lpstr>YOLO演進時間軸與版本發布 早期奠基版本 (2015-2018)</vt:lpstr>
      <vt:lpstr>現代架構轉型期 (2020)</vt:lpstr>
      <vt:lpstr>工業應用優化期 (2022-2023)</vt:lpstr>
      <vt:lpstr>最新技術突破期 (2024)</vt:lpstr>
      <vt:lpstr>Ultralytics介紹</vt:lpstr>
      <vt:lpstr>Pytorch 與 Tensorflow</vt:lpstr>
      <vt:lpstr>Pytorch 與 Tensorflow</vt:lpstr>
      <vt:lpstr>Ultralytics &amp;Pytorch &amp; NVIDIA CUDA/cuDNN</vt:lpstr>
      <vt:lpstr>Ultralytics &amp;Pytorch &amp; NVIDIA CUDA/cuDNN</vt:lpstr>
      <vt:lpstr>性能指標對比</vt:lpstr>
      <vt:lpstr>版本選擇建議</vt:lpstr>
      <vt:lpstr>需要套件</vt:lpstr>
      <vt:lpstr>模型版本對比</vt:lpstr>
      <vt:lpstr>訓練性能差異（CPU環境）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電腦視覺課程</dc:title>
  <dc:creator>TSIC</dc:creator>
  <cp:lastModifiedBy>蘇泓舉</cp:lastModifiedBy>
  <cp:revision>20</cp:revision>
  <dcterms:modified xsi:type="dcterms:W3CDTF">2025-09-19T05:00:50Z</dcterms:modified>
</cp:coreProperties>
</file>